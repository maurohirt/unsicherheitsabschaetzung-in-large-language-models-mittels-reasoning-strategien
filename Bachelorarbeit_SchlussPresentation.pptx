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8" r:id="rId3"/>
    <p:sldId id="273" r:id="rId4"/>
    <p:sldId id="274" r:id="rId5"/>
    <p:sldId id="276" r:id="rId6"/>
    <p:sldId id="282" r:id="rId7"/>
    <p:sldId id="283" r:id="rId8"/>
    <p:sldId id="284" r:id="rId9"/>
    <p:sldId id="275" r:id="rId10"/>
    <p:sldId id="263" r:id="rId11"/>
    <p:sldId id="264" r:id="rId12"/>
    <p:sldId id="285" r:id="rId13"/>
    <p:sldId id="286" r:id="rId14"/>
    <p:sldId id="287" r:id="rId15"/>
    <p:sldId id="280" r:id="rId16"/>
    <p:sldId id="291" r:id="rId17"/>
    <p:sldId id="292" r:id="rId18"/>
    <p:sldId id="293" r:id="rId19"/>
    <p:sldId id="271" r:id="rId20"/>
    <p:sldId id="272" r:id="rId21"/>
    <p:sldId id="277" r:id="rId22"/>
    <p:sldId id="281" r:id="rId23"/>
    <p:sldId id="288" r:id="rId24"/>
    <p:sldId id="289" r:id="rId25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298067F-04BB-514F-81DD-AA7120CC466D}">
          <p14:sldIdLst>
            <p14:sldId id="256"/>
            <p14:sldId id="258"/>
            <p14:sldId id="273"/>
            <p14:sldId id="274"/>
            <p14:sldId id="276"/>
            <p14:sldId id="282"/>
            <p14:sldId id="283"/>
            <p14:sldId id="284"/>
            <p14:sldId id="275"/>
            <p14:sldId id="263"/>
            <p14:sldId id="264"/>
            <p14:sldId id="285"/>
            <p14:sldId id="286"/>
            <p14:sldId id="287"/>
            <p14:sldId id="280"/>
            <p14:sldId id="291"/>
            <p14:sldId id="292"/>
            <p14:sldId id="293"/>
            <p14:sldId id="271"/>
            <p14:sldId id="272"/>
            <p14:sldId id="277"/>
            <p14:sldId id="281"/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79" userDrawn="1">
          <p15:clr>
            <a:srgbClr val="A4A3A4"/>
          </p15:clr>
        </p15:guide>
        <p15:guide id="3" pos="7423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orient="horz" pos="346" userDrawn="1">
          <p15:clr>
            <a:srgbClr val="A4A3A4"/>
          </p15:clr>
        </p15:guide>
        <p15:guide id="7" orient="horz" pos="39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01"/>
    <p:restoredTop sz="73197"/>
  </p:normalViewPr>
  <p:slideViewPr>
    <p:cSldViewPr snapToGrid="0">
      <p:cViewPr varScale="1">
        <p:scale>
          <a:sx n="92" d="100"/>
          <a:sy n="92" d="100"/>
        </p:scale>
        <p:origin x="1816" y="176"/>
      </p:cViewPr>
      <p:guideLst>
        <p:guide orient="horz" pos="2160"/>
        <p:guide pos="279"/>
        <p:guide pos="7423"/>
        <p:guide pos="3840"/>
        <p:guide orient="horz" pos="346"/>
        <p:guide orient="horz" pos="397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BA93F6-87B3-F347-B4E4-33E300EB5C64}" type="datetimeFigureOut">
              <a:rPr lang="en-CH" smtClean="0"/>
              <a:t>11.09.2025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72787F-12B6-EA43-A6ED-0B4B9863924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37910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2787F-12B6-EA43-A6ED-0B4B98639249}" type="slidenum">
              <a:rPr lang="en-CH" smtClean="0"/>
              <a:t>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51427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i="1" dirty="0" err="1"/>
              <a:t>Einstieg</a:t>
            </a:r>
            <a:r>
              <a:rPr lang="en-GB" dirty="0"/>
              <a:t>: „LLMs </a:t>
            </a:r>
            <a:r>
              <a:rPr lang="en-GB" dirty="0" err="1"/>
              <a:t>sind</a:t>
            </a:r>
            <a:r>
              <a:rPr lang="en-GB" dirty="0"/>
              <a:t> </a:t>
            </a:r>
            <a:r>
              <a:rPr lang="en-GB" dirty="0" err="1"/>
              <a:t>beeindruckend</a:t>
            </a:r>
            <a:r>
              <a:rPr lang="en-GB" dirty="0"/>
              <a:t> – </a:t>
            </a:r>
            <a:r>
              <a:rPr lang="en-GB" dirty="0" err="1"/>
              <a:t>aber</a:t>
            </a:r>
            <a:r>
              <a:rPr lang="en-GB" dirty="0"/>
              <a:t> </a:t>
            </a:r>
            <a:r>
              <a:rPr lang="en-GB" dirty="0" err="1"/>
              <a:t>sie</a:t>
            </a:r>
            <a:r>
              <a:rPr lang="en-GB" dirty="0"/>
              <a:t> </a:t>
            </a:r>
            <a:r>
              <a:rPr lang="en-GB" dirty="0" err="1"/>
              <a:t>können</a:t>
            </a:r>
            <a:r>
              <a:rPr lang="en-GB" dirty="0"/>
              <a:t> </a:t>
            </a:r>
            <a:r>
              <a:rPr lang="en-GB" dirty="0" err="1"/>
              <a:t>sehr</a:t>
            </a:r>
            <a:r>
              <a:rPr lang="en-GB" dirty="0"/>
              <a:t> </a:t>
            </a:r>
            <a:r>
              <a:rPr lang="en-GB" dirty="0" err="1"/>
              <a:t>überzeugt</a:t>
            </a:r>
            <a:r>
              <a:rPr lang="en-GB" dirty="0"/>
              <a:t> </a:t>
            </a:r>
            <a:r>
              <a:rPr lang="en-GB" dirty="0" err="1"/>
              <a:t>klingen</a:t>
            </a:r>
            <a:r>
              <a:rPr lang="en-GB" dirty="0"/>
              <a:t>, </a:t>
            </a:r>
            <a:r>
              <a:rPr lang="en-GB" dirty="0" err="1"/>
              <a:t>selbst</a:t>
            </a:r>
            <a:r>
              <a:rPr lang="en-GB" dirty="0"/>
              <a:t> </a:t>
            </a:r>
            <a:r>
              <a:rPr lang="en-GB" dirty="0" err="1"/>
              <a:t>wenn</a:t>
            </a:r>
            <a:r>
              <a:rPr lang="en-GB" dirty="0"/>
              <a:t> </a:t>
            </a:r>
            <a:r>
              <a:rPr lang="en-GB" dirty="0" err="1"/>
              <a:t>sie</a:t>
            </a:r>
            <a:r>
              <a:rPr lang="en-GB" dirty="0"/>
              <a:t> </a:t>
            </a:r>
            <a:r>
              <a:rPr lang="en-GB" dirty="0" err="1"/>
              <a:t>falsch</a:t>
            </a:r>
            <a:r>
              <a:rPr lang="en-GB" dirty="0"/>
              <a:t> </a:t>
            </a:r>
            <a:r>
              <a:rPr lang="en-GB" dirty="0" err="1"/>
              <a:t>sind</a:t>
            </a:r>
            <a:r>
              <a:rPr lang="en-GB" dirty="0"/>
              <a:t>.“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„Ein Mensch </a:t>
            </a:r>
            <a:r>
              <a:rPr lang="en-GB" dirty="0" err="1"/>
              <a:t>würde</a:t>
            </a:r>
            <a:r>
              <a:rPr lang="en-GB" dirty="0"/>
              <a:t> </a:t>
            </a:r>
            <a:r>
              <a:rPr lang="en-GB" dirty="0" err="1"/>
              <a:t>vielleicht</a:t>
            </a:r>
            <a:r>
              <a:rPr lang="en-GB" dirty="0"/>
              <a:t> </a:t>
            </a:r>
            <a:r>
              <a:rPr lang="en-GB" dirty="0" err="1"/>
              <a:t>sagen</a:t>
            </a:r>
            <a:r>
              <a:rPr lang="en-GB" dirty="0"/>
              <a:t>: </a:t>
            </a:r>
            <a:r>
              <a:rPr lang="en-GB" i="1" dirty="0"/>
              <a:t>‚Da bin ich mir </a:t>
            </a:r>
            <a:r>
              <a:rPr lang="en-GB" i="1" dirty="0" err="1"/>
              <a:t>nicht</a:t>
            </a:r>
            <a:r>
              <a:rPr lang="en-GB" i="1" dirty="0"/>
              <a:t> </a:t>
            </a:r>
            <a:r>
              <a:rPr lang="en-GB" i="1" dirty="0" err="1"/>
              <a:t>sicher</a:t>
            </a:r>
            <a:r>
              <a:rPr lang="en-GB" i="1" dirty="0"/>
              <a:t>‘</a:t>
            </a:r>
            <a:r>
              <a:rPr lang="en-GB" dirty="0"/>
              <a:t>. LLMs </a:t>
            </a:r>
            <a:r>
              <a:rPr lang="en-GB" dirty="0" err="1"/>
              <a:t>machen</a:t>
            </a:r>
            <a:r>
              <a:rPr lang="en-GB" dirty="0"/>
              <a:t> das </a:t>
            </a:r>
            <a:r>
              <a:rPr lang="en-GB" dirty="0" err="1"/>
              <a:t>nicht</a:t>
            </a:r>
            <a:r>
              <a:rPr lang="en-GB" dirty="0"/>
              <a:t>.“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„In </a:t>
            </a:r>
            <a:r>
              <a:rPr lang="en-GB" dirty="0" err="1"/>
              <a:t>sensiblen</a:t>
            </a:r>
            <a:r>
              <a:rPr lang="en-GB" dirty="0"/>
              <a:t> </a:t>
            </a:r>
            <a:r>
              <a:rPr lang="en-GB" dirty="0" err="1"/>
              <a:t>Bereichen</a:t>
            </a:r>
            <a:r>
              <a:rPr lang="en-GB" dirty="0"/>
              <a:t> – </a:t>
            </a:r>
            <a:r>
              <a:rPr lang="en-GB" dirty="0" err="1"/>
              <a:t>etwa</a:t>
            </a:r>
            <a:r>
              <a:rPr lang="en-GB" dirty="0"/>
              <a:t> </a:t>
            </a:r>
            <a:r>
              <a:rPr lang="en-GB" dirty="0" err="1"/>
              <a:t>Medizin</a:t>
            </a:r>
            <a:r>
              <a:rPr lang="en-GB" dirty="0"/>
              <a:t>, Recht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Bildung</a:t>
            </a:r>
            <a:r>
              <a:rPr lang="en-GB" dirty="0"/>
              <a:t> – </a:t>
            </a:r>
            <a:r>
              <a:rPr lang="en-GB" dirty="0" err="1"/>
              <a:t>ist</a:t>
            </a:r>
            <a:r>
              <a:rPr lang="en-GB" dirty="0"/>
              <a:t> es </a:t>
            </a:r>
            <a:r>
              <a:rPr lang="en-GB" dirty="0" err="1"/>
              <a:t>aber</a:t>
            </a:r>
            <a:r>
              <a:rPr lang="en-GB" dirty="0"/>
              <a:t> </a:t>
            </a:r>
            <a:r>
              <a:rPr lang="en-GB" dirty="0" err="1"/>
              <a:t>entscheidend</a:t>
            </a:r>
            <a:r>
              <a:rPr lang="en-GB" dirty="0"/>
              <a:t>,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wissen</a:t>
            </a:r>
            <a:r>
              <a:rPr lang="en-GB" dirty="0"/>
              <a:t>, </a:t>
            </a:r>
            <a:r>
              <a:rPr lang="en-GB" dirty="0" err="1"/>
              <a:t>wann</a:t>
            </a:r>
            <a:r>
              <a:rPr lang="en-GB" dirty="0"/>
              <a:t> das Modell </a:t>
            </a:r>
            <a:r>
              <a:rPr lang="en-GB" dirty="0" err="1"/>
              <a:t>unsicher</a:t>
            </a:r>
            <a:r>
              <a:rPr lang="en-GB" dirty="0"/>
              <a:t> </a:t>
            </a:r>
            <a:r>
              <a:rPr lang="en-GB" dirty="0" err="1"/>
              <a:t>ist</a:t>
            </a:r>
            <a:r>
              <a:rPr lang="en-GB" dirty="0"/>
              <a:t>.“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„Reasoning-</a:t>
            </a:r>
            <a:r>
              <a:rPr lang="en-GB" dirty="0" err="1"/>
              <a:t>Strategien</a:t>
            </a:r>
            <a:r>
              <a:rPr lang="en-GB" dirty="0"/>
              <a:t> </a:t>
            </a:r>
            <a:r>
              <a:rPr lang="en-GB" dirty="0" err="1"/>
              <a:t>wie</a:t>
            </a:r>
            <a:r>
              <a:rPr lang="en-GB" dirty="0"/>
              <a:t> Chain-of-Thought </a:t>
            </a:r>
            <a:r>
              <a:rPr lang="en-GB" dirty="0" err="1"/>
              <a:t>werden</a:t>
            </a:r>
            <a:r>
              <a:rPr lang="en-GB" dirty="0"/>
              <a:t> immer </a:t>
            </a:r>
            <a:r>
              <a:rPr lang="en-GB" dirty="0" err="1"/>
              <a:t>häufiger</a:t>
            </a:r>
            <a:r>
              <a:rPr lang="en-GB" dirty="0"/>
              <a:t> </a:t>
            </a:r>
            <a:r>
              <a:rPr lang="en-GB" dirty="0" err="1"/>
              <a:t>genutzt</a:t>
            </a:r>
            <a:r>
              <a:rPr lang="en-GB" dirty="0"/>
              <a:t>, </a:t>
            </a:r>
            <a:r>
              <a:rPr lang="en-GB" dirty="0" err="1"/>
              <a:t>weil</a:t>
            </a:r>
            <a:r>
              <a:rPr lang="en-GB" dirty="0"/>
              <a:t> </a:t>
            </a:r>
            <a:r>
              <a:rPr lang="en-GB" dirty="0" err="1"/>
              <a:t>sie</a:t>
            </a:r>
            <a:r>
              <a:rPr lang="en-GB" dirty="0"/>
              <a:t> </a:t>
            </a:r>
            <a:r>
              <a:rPr lang="en-GB" dirty="0" err="1"/>
              <a:t>nachvollziehbare</a:t>
            </a:r>
            <a:r>
              <a:rPr lang="en-GB" dirty="0"/>
              <a:t> </a:t>
            </a:r>
            <a:r>
              <a:rPr lang="en-GB" dirty="0" err="1"/>
              <a:t>Zwischenschritte</a:t>
            </a:r>
            <a:r>
              <a:rPr lang="en-GB" dirty="0"/>
              <a:t> </a:t>
            </a:r>
            <a:r>
              <a:rPr lang="en-GB" dirty="0" err="1"/>
              <a:t>liefern</a:t>
            </a:r>
            <a:r>
              <a:rPr lang="en-GB" dirty="0"/>
              <a:t>.“</a:t>
            </a:r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2787F-12B6-EA43-A6ED-0B4B98639249}" type="slidenum">
              <a:rPr lang="en-CH" smtClean="0"/>
              <a:t>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23112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„Wie </a:t>
            </a:r>
            <a:r>
              <a:rPr lang="en-GB" dirty="0" err="1"/>
              <a:t>wird</a:t>
            </a:r>
            <a:r>
              <a:rPr lang="en-GB" dirty="0"/>
              <a:t> </a:t>
            </a:r>
            <a:r>
              <a:rPr lang="en-GB" dirty="0" err="1"/>
              <a:t>Unsicherheit</a:t>
            </a:r>
            <a:r>
              <a:rPr lang="en-GB" dirty="0"/>
              <a:t> </a:t>
            </a:r>
            <a:r>
              <a:rPr lang="en-GB" dirty="0" err="1"/>
              <a:t>heute</a:t>
            </a:r>
            <a:r>
              <a:rPr lang="en-GB" dirty="0"/>
              <a:t> </a:t>
            </a:r>
            <a:r>
              <a:rPr lang="en-GB" dirty="0" err="1"/>
              <a:t>abgeschätzt</a:t>
            </a:r>
            <a:r>
              <a:rPr lang="en-GB" dirty="0"/>
              <a:t>?“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„</a:t>
            </a:r>
            <a:r>
              <a:rPr lang="en-GB" dirty="0" err="1"/>
              <a:t>Erstens</a:t>
            </a:r>
            <a:r>
              <a:rPr lang="en-GB" dirty="0"/>
              <a:t>: </a:t>
            </a:r>
            <a:r>
              <a:rPr lang="en-GB" b="1" dirty="0"/>
              <a:t>Prompt-Level</a:t>
            </a:r>
            <a:r>
              <a:rPr lang="en-GB" dirty="0"/>
              <a:t>. Da </a:t>
            </a:r>
            <a:r>
              <a:rPr lang="en-GB" dirty="0" err="1"/>
              <a:t>schaut</a:t>
            </a:r>
            <a:r>
              <a:rPr lang="en-GB" dirty="0"/>
              <a:t> man, </a:t>
            </a:r>
            <a:r>
              <a:rPr lang="en-GB" dirty="0" err="1"/>
              <a:t>wie</a:t>
            </a:r>
            <a:r>
              <a:rPr lang="en-GB" dirty="0"/>
              <a:t> </a:t>
            </a:r>
            <a:r>
              <a:rPr lang="en-GB" dirty="0" err="1"/>
              <a:t>viele</a:t>
            </a:r>
            <a:r>
              <a:rPr lang="en-GB" dirty="0"/>
              <a:t> </a:t>
            </a:r>
            <a:r>
              <a:rPr lang="en-GB" dirty="0" err="1"/>
              <a:t>verschiedene</a:t>
            </a:r>
            <a:r>
              <a:rPr lang="en-GB" dirty="0"/>
              <a:t> </a:t>
            </a:r>
            <a:r>
              <a:rPr lang="en-GB" dirty="0" err="1"/>
              <a:t>Antworten</a:t>
            </a:r>
            <a:r>
              <a:rPr lang="en-GB" dirty="0"/>
              <a:t> </a:t>
            </a:r>
            <a:r>
              <a:rPr lang="en-GB" dirty="0" err="1"/>
              <a:t>ein</a:t>
            </a:r>
            <a:r>
              <a:rPr lang="en-GB" dirty="0"/>
              <a:t> Modell auf </a:t>
            </a:r>
            <a:r>
              <a:rPr lang="en-GB" dirty="0" err="1"/>
              <a:t>denselben</a:t>
            </a:r>
            <a:r>
              <a:rPr lang="en-GB" dirty="0"/>
              <a:t> Prompt </a:t>
            </a:r>
            <a:r>
              <a:rPr lang="en-GB" dirty="0" err="1"/>
              <a:t>gibt</a:t>
            </a:r>
            <a:r>
              <a:rPr lang="en-GB" dirty="0"/>
              <a:t> – </a:t>
            </a:r>
            <a:r>
              <a:rPr lang="en-GB" dirty="0" err="1"/>
              <a:t>aber</a:t>
            </a:r>
            <a:r>
              <a:rPr lang="en-GB" dirty="0"/>
              <a:t> das </a:t>
            </a:r>
            <a:r>
              <a:rPr lang="en-GB" dirty="0" err="1"/>
              <a:t>ist</a:t>
            </a:r>
            <a:r>
              <a:rPr lang="en-GB" dirty="0"/>
              <a:t> </a:t>
            </a:r>
            <a:r>
              <a:rPr lang="en-GB" dirty="0" err="1"/>
              <a:t>sehr</a:t>
            </a:r>
            <a:r>
              <a:rPr lang="en-GB" dirty="0"/>
              <a:t> </a:t>
            </a:r>
            <a:r>
              <a:rPr lang="en-GB" dirty="0" err="1"/>
              <a:t>grob</a:t>
            </a:r>
            <a:r>
              <a:rPr lang="en-GB" dirty="0"/>
              <a:t>.“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„</a:t>
            </a:r>
            <a:r>
              <a:rPr lang="en-GB" dirty="0" err="1"/>
              <a:t>Zweitens</a:t>
            </a:r>
            <a:r>
              <a:rPr lang="en-GB" dirty="0"/>
              <a:t>: </a:t>
            </a:r>
            <a:r>
              <a:rPr lang="en-GB" b="1" dirty="0"/>
              <a:t>Final-Answer-Token</a:t>
            </a:r>
            <a:r>
              <a:rPr lang="en-GB" dirty="0"/>
              <a:t>. Man </a:t>
            </a:r>
            <a:r>
              <a:rPr lang="en-GB" dirty="0" err="1"/>
              <a:t>schaut</a:t>
            </a:r>
            <a:r>
              <a:rPr lang="en-GB" dirty="0"/>
              <a:t> </a:t>
            </a:r>
            <a:r>
              <a:rPr lang="en-GB" dirty="0" err="1"/>
              <a:t>nur</a:t>
            </a:r>
            <a:r>
              <a:rPr lang="en-GB" dirty="0"/>
              <a:t> auf die </a:t>
            </a:r>
            <a:r>
              <a:rPr lang="en-GB" dirty="0" err="1"/>
              <a:t>Wahrscheinlichkeit</a:t>
            </a:r>
            <a:r>
              <a:rPr lang="en-GB" dirty="0"/>
              <a:t> des </a:t>
            </a:r>
            <a:r>
              <a:rPr lang="en-GB" dirty="0" err="1"/>
              <a:t>Endtokens</a:t>
            </a:r>
            <a:r>
              <a:rPr lang="en-GB" dirty="0"/>
              <a:t> – </a:t>
            </a:r>
            <a:r>
              <a:rPr lang="en-GB" dirty="0" err="1"/>
              <a:t>aber</a:t>
            </a:r>
            <a:r>
              <a:rPr lang="en-GB" dirty="0"/>
              <a:t> das </a:t>
            </a:r>
            <a:r>
              <a:rPr lang="en-GB" dirty="0" err="1"/>
              <a:t>ignoriert</a:t>
            </a:r>
            <a:r>
              <a:rPr lang="en-GB" dirty="0"/>
              <a:t> </a:t>
            </a:r>
            <a:r>
              <a:rPr lang="en-GB" dirty="0" err="1"/>
              <a:t>komplett</a:t>
            </a:r>
            <a:r>
              <a:rPr lang="en-GB" dirty="0"/>
              <a:t> die </a:t>
            </a:r>
            <a:r>
              <a:rPr lang="en-GB" dirty="0" err="1"/>
              <a:t>Zwischenschritte</a:t>
            </a:r>
            <a:r>
              <a:rPr lang="en-GB" dirty="0"/>
              <a:t>.“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„Problem: In den Reasoning-Ketten </a:t>
            </a:r>
            <a:r>
              <a:rPr lang="en-GB" dirty="0" err="1"/>
              <a:t>liegen</a:t>
            </a:r>
            <a:r>
              <a:rPr lang="en-GB" dirty="0"/>
              <a:t> oft </a:t>
            </a:r>
            <a:r>
              <a:rPr lang="en-GB" dirty="0" err="1"/>
              <a:t>schon</a:t>
            </a:r>
            <a:r>
              <a:rPr lang="en-GB" dirty="0"/>
              <a:t> </a:t>
            </a:r>
            <a:r>
              <a:rPr lang="en-GB" dirty="0" err="1"/>
              <a:t>Hinweise</a:t>
            </a:r>
            <a:r>
              <a:rPr lang="en-GB" dirty="0"/>
              <a:t>, </a:t>
            </a:r>
            <a:r>
              <a:rPr lang="en-GB" dirty="0" err="1"/>
              <a:t>dass</a:t>
            </a:r>
            <a:r>
              <a:rPr lang="en-GB" dirty="0"/>
              <a:t> das Modell </a:t>
            </a:r>
            <a:r>
              <a:rPr lang="en-GB" dirty="0" err="1"/>
              <a:t>unsicher</a:t>
            </a:r>
            <a:r>
              <a:rPr lang="en-GB" dirty="0"/>
              <a:t> </a:t>
            </a:r>
            <a:r>
              <a:rPr lang="en-GB" dirty="0" err="1"/>
              <a:t>ist</a:t>
            </a:r>
            <a:r>
              <a:rPr lang="en-GB" dirty="0"/>
              <a:t> – </a:t>
            </a:r>
            <a:r>
              <a:rPr lang="en-GB" dirty="0" err="1"/>
              <a:t>aber</a:t>
            </a:r>
            <a:r>
              <a:rPr lang="en-GB" dirty="0"/>
              <a:t> die </a:t>
            </a:r>
            <a:r>
              <a:rPr lang="en-GB" dirty="0" err="1"/>
              <a:t>werden</a:t>
            </a:r>
            <a:r>
              <a:rPr lang="en-GB" dirty="0"/>
              <a:t> gar </a:t>
            </a:r>
            <a:r>
              <a:rPr lang="en-GB" dirty="0" err="1"/>
              <a:t>nicht</a:t>
            </a:r>
            <a:r>
              <a:rPr lang="en-GB" dirty="0"/>
              <a:t> </a:t>
            </a:r>
            <a:r>
              <a:rPr lang="en-GB" dirty="0" err="1"/>
              <a:t>genutzt</a:t>
            </a:r>
            <a:r>
              <a:rPr lang="en-GB" dirty="0"/>
              <a:t>.“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„Das </a:t>
            </a:r>
            <a:r>
              <a:rPr lang="en-GB" dirty="0" err="1"/>
              <a:t>führt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schlechter</a:t>
            </a:r>
            <a:r>
              <a:rPr lang="en-GB" dirty="0"/>
              <a:t> </a:t>
            </a:r>
            <a:r>
              <a:rPr lang="en-GB" dirty="0" err="1"/>
              <a:t>Kalibration</a:t>
            </a:r>
            <a:r>
              <a:rPr lang="en-GB" dirty="0"/>
              <a:t>: Das Modell </a:t>
            </a:r>
            <a:r>
              <a:rPr lang="en-GB" dirty="0" err="1"/>
              <a:t>wirkt</a:t>
            </a:r>
            <a:r>
              <a:rPr lang="en-GB" dirty="0"/>
              <a:t> </a:t>
            </a:r>
            <a:r>
              <a:rPr lang="en-GB" dirty="0" err="1"/>
              <a:t>selbstbewusst</a:t>
            </a:r>
            <a:r>
              <a:rPr lang="en-GB" dirty="0"/>
              <a:t>, </a:t>
            </a:r>
            <a:r>
              <a:rPr lang="en-GB" dirty="0" err="1"/>
              <a:t>obwohl</a:t>
            </a:r>
            <a:r>
              <a:rPr lang="en-GB" dirty="0"/>
              <a:t> es mitten in der </a:t>
            </a:r>
            <a:r>
              <a:rPr lang="en-GB" dirty="0" err="1"/>
              <a:t>Begründung</a:t>
            </a:r>
            <a:r>
              <a:rPr lang="en-GB" dirty="0"/>
              <a:t> </a:t>
            </a:r>
            <a:r>
              <a:rPr lang="en-GB" dirty="0" err="1"/>
              <a:t>schon</a:t>
            </a:r>
            <a:r>
              <a:rPr lang="en-GB" dirty="0"/>
              <a:t> </a:t>
            </a:r>
            <a:r>
              <a:rPr lang="en-GB" dirty="0" err="1"/>
              <a:t>falsch</a:t>
            </a:r>
            <a:r>
              <a:rPr lang="en-GB" dirty="0"/>
              <a:t> </a:t>
            </a:r>
            <a:r>
              <a:rPr lang="en-GB" dirty="0" err="1"/>
              <a:t>abgebogen</a:t>
            </a:r>
            <a:r>
              <a:rPr lang="en-GB" dirty="0"/>
              <a:t> </a:t>
            </a:r>
            <a:r>
              <a:rPr lang="en-GB" dirty="0" err="1"/>
              <a:t>ist</a:t>
            </a:r>
            <a:r>
              <a:rPr lang="en-GB" dirty="0"/>
              <a:t>.“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„Mein Ziel </a:t>
            </a:r>
            <a:r>
              <a:rPr lang="en-GB" dirty="0" err="1"/>
              <a:t>ist</a:t>
            </a:r>
            <a:r>
              <a:rPr lang="en-GB" dirty="0"/>
              <a:t> </a:t>
            </a:r>
            <a:r>
              <a:rPr lang="en-GB" dirty="0" err="1"/>
              <a:t>deshalb</a:t>
            </a:r>
            <a:r>
              <a:rPr lang="en-GB" dirty="0"/>
              <a:t>, </a:t>
            </a:r>
            <a:r>
              <a:rPr lang="en-GB" dirty="0" err="1"/>
              <a:t>Unsicherheit</a:t>
            </a:r>
            <a:r>
              <a:rPr lang="en-GB" dirty="0"/>
              <a:t> </a:t>
            </a:r>
            <a:r>
              <a:rPr lang="en-GB" dirty="0" err="1"/>
              <a:t>wirklich</a:t>
            </a:r>
            <a:r>
              <a:rPr lang="en-GB" dirty="0"/>
              <a:t> auf </a:t>
            </a:r>
            <a:r>
              <a:rPr lang="en-GB" b="1" dirty="0" err="1"/>
              <a:t>Antwort</a:t>
            </a:r>
            <a:r>
              <a:rPr lang="en-GB" b="1" dirty="0"/>
              <a:t>-Level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messen</a:t>
            </a:r>
            <a:r>
              <a:rPr lang="en-GB" dirty="0"/>
              <a:t> – und </a:t>
            </a:r>
            <a:r>
              <a:rPr lang="en-GB" dirty="0" err="1"/>
              <a:t>dabei</a:t>
            </a:r>
            <a:r>
              <a:rPr lang="en-GB" dirty="0"/>
              <a:t> die Reasoning-</a:t>
            </a:r>
            <a:r>
              <a:rPr lang="en-GB" dirty="0" err="1"/>
              <a:t>Strategien</a:t>
            </a:r>
            <a:r>
              <a:rPr lang="en-GB" dirty="0"/>
              <a:t> </a:t>
            </a:r>
            <a:r>
              <a:rPr lang="en-GB" dirty="0" err="1"/>
              <a:t>einzubeziehen</a:t>
            </a:r>
            <a:r>
              <a:rPr lang="en-GB" dirty="0"/>
              <a:t>.“</a:t>
            </a:r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2787F-12B6-EA43-A6ED-0B4B98639249}" type="slidenum">
              <a:rPr lang="en-CH" smtClean="0"/>
              <a:t>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58170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GB" b="1" dirty="0" err="1"/>
              <a:t>Einstieg</a:t>
            </a:r>
            <a:endParaRPr lang="en-GB" b="1" dirty="0"/>
          </a:p>
          <a:p>
            <a:pPr>
              <a:buNone/>
            </a:pPr>
            <a:br>
              <a:rPr lang="en-GB" dirty="0"/>
            </a:br>
            <a:endParaRPr lang="en-GB" dirty="0"/>
          </a:p>
          <a:p>
            <a:pPr>
              <a:buNone/>
            </a:pPr>
            <a:r>
              <a:rPr lang="en-GB" dirty="0"/>
              <a:t>„Wir </a:t>
            </a:r>
            <a:r>
              <a:rPr lang="en-GB" dirty="0" err="1"/>
              <a:t>unterscheiden</a:t>
            </a:r>
            <a:r>
              <a:rPr lang="en-GB" dirty="0"/>
              <a:t> </a:t>
            </a:r>
            <a:r>
              <a:rPr lang="en-GB" dirty="0" err="1"/>
              <a:t>zwei</a:t>
            </a:r>
            <a:r>
              <a:rPr lang="en-GB" dirty="0"/>
              <a:t> </a:t>
            </a:r>
            <a:r>
              <a:rPr lang="en-GB" dirty="0" err="1"/>
              <a:t>Hauptklassen</a:t>
            </a:r>
            <a:r>
              <a:rPr lang="en-GB" dirty="0"/>
              <a:t> von </a:t>
            </a:r>
            <a:r>
              <a:rPr lang="en-GB" dirty="0" err="1"/>
              <a:t>Unsicherheitsmetriken</a:t>
            </a:r>
            <a:r>
              <a:rPr lang="en-GB" dirty="0"/>
              <a:t>:</a:t>
            </a:r>
          </a:p>
          <a:p>
            <a:pPr>
              <a:buFont typeface="+mj-lt"/>
              <a:buAutoNum type="arabicPeriod"/>
            </a:pPr>
            <a:r>
              <a:rPr lang="en-GB" dirty="0"/>
              <a:t>Self-Evaluation, wo das Modell </a:t>
            </a:r>
            <a:r>
              <a:rPr lang="en-GB" dirty="0" err="1"/>
              <a:t>sich</a:t>
            </a:r>
            <a:r>
              <a:rPr lang="en-GB" dirty="0"/>
              <a:t> </a:t>
            </a:r>
            <a:r>
              <a:rPr lang="en-GB" dirty="0" err="1"/>
              <a:t>selbst</a:t>
            </a:r>
            <a:r>
              <a:rPr lang="en-GB" dirty="0"/>
              <a:t> </a:t>
            </a:r>
            <a:r>
              <a:rPr lang="en-GB" dirty="0" err="1"/>
              <a:t>einschätzt</a:t>
            </a:r>
            <a:r>
              <a:rPr lang="en-GB" dirty="0"/>
              <a:t>,</a:t>
            </a:r>
          </a:p>
          <a:p>
            <a:pPr>
              <a:buFont typeface="+mj-lt"/>
              <a:buAutoNum type="arabicPeriod"/>
            </a:pPr>
            <a:r>
              <a:rPr lang="en-GB" dirty="0" err="1"/>
              <a:t>Aggregationsmetriken</a:t>
            </a:r>
            <a:r>
              <a:rPr lang="en-GB" dirty="0"/>
              <a:t>, die </a:t>
            </a:r>
            <a:r>
              <a:rPr lang="en-GB" dirty="0" err="1"/>
              <a:t>direkt</a:t>
            </a:r>
            <a:r>
              <a:rPr lang="en-GB" dirty="0"/>
              <a:t> die </a:t>
            </a:r>
            <a:r>
              <a:rPr lang="en-GB" dirty="0" err="1"/>
              <a:t>Wahrscheinlichkeiten</a:t>
            </a:r>
            <a:r>
              <a:rPr lang="en-GB" dirty="0"/>
              <a:t> der Tokens </a:t>
            </a:r>
            <a:r>
              <a:rPr lang="en-GB" dirty="0" err="1"/>
              <a:t>auswerten</a:t>
            </a:r>
            <a:r>
              <a:rPr lang="en-GB" dirty="0"/>
              <a:t>.“</a:t>
            </a:r>
          </a:p>
          <a:p>
            <a:pPr>
              <a:buNone/>
            </a:pPr>
            <a:br>
              <a:rPr lang="en-GB" dirty="0"/>
            </a:br>
            <a:endParaRPr lang="en-GB" dirty="0"/>
          </a:p>
          <a:p>
            <a:pPr>
              <a:buNone/>
            </a:pPr>
            <a:r>
              <a:rPr lang="en-GB" b="1" dirty="0"/>
              <a:t>Self-Evaluation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„Bei </a:t>
            </a:r>
            <a:r>
              <a:rPr lang="en-GB" b="1" dirty="0"/>
              <a:t>P-True</a:t>
            </a:r>
            <a:r>
              <a:rPr lang="en-GB" dirty="0"/>
              <a:t> </a:t>
            </a:r>
            <a:r>
              <a:rPr lang="en-GB" dirty="0" err="1"/>
              <a:t>fragen</a:t>
            </a:r>
            <a:r>
              <a:rPr lang="en-GB" dirty="0"/>
              <a:t> </a:t>
            </a:r>
            <a:r>
              <a:rPr lang="en-GB" dirty="0" err="1"/>
              <a:t>wir</a:t>
            </a:r>
            <a:r>
              <a:rPr lang="en-GB" dirty="0"/>
              <a:t> das Modell: </a:t>
            </a:r>
            <a:r>
              <a:rPr lang="en-GB" i="1" dirty="0"/>
              <a:t>War </a:t>
            </a:r>
            <a:r>
              <a:rPr lang="en-GB" i="1" dirty="0" err="1"/>
              <a:t>deine</a:t>
            </a:r>
            <a:r>
              <a:rPr lang="en-GB" i="1" dirty="0"/>
              <a:t> </a:t>
            </a:r>
            <a:r>
              <a:rPr lang="en-GB" i="1" dirty="0" err="1"/>
              <a:t>Antwort</a:t>
            </a:r>
            <a:r>
              <a:rPr lang="en-GB" i="1" dirty="0"/>
              <a:t> </a:t>
            </a:r>
            <a:r>
              <a:rPr lang="en-GB" i="1" dirty="0" err="1"/>
              <a:t>richtig</a:t>
            </a:r>
            <a:r>
              <a:rPr lang="en-GB" i="1" dirty="0"/>
              <a:t> </a:t>
            </a:r>
            <a:r>
              <a:rPr lang="en-GB" i="1" dirty="0" err="1"/>
              <a:t>oder</a:t>
            </a:r>
            <a:r>
              <a:rPr lang="en-GB" i="1" dirty="0"/>
              <a:t> </a:t>
            </a:r>
            <a:r>
              <a:rPr lang="en-GB" i="1" dirty="0" err="1"/>
              <a:t>falsch</a:t>
            </a:r>
            <a:r>
              <a:rPr lang="en-GB" i="1" dirty="0"/>
              <a:t>?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Es </a:t>
            </a:r>
            <a:r>
              <a:rPr lang="en-GB" dirty="0" err="1"/>
              <a:t>gibt</a:t>
            </a:r>
            <a:r>
              <a:rPr lang="en-GB" dirty="0"/>
              <a:t> True </a:t>
            </a:r>
            <a:r>
              <a:rPr lang="en-GB" dirty="0" err="1"/>
              <a:t>oder</a:t>
            </a:r>
            <a:r>
              <a:rPr lang="en-GB" dirty="0"/>
              <a:t> False </a:t>
            </a:r>
            <a:r>
              <a:rPr lang="en-GB" dirty="0" err="1"/>
              <a:t>zurück</a:t>
            </a:r>
            <a:r>
              <a:rPr lang="en-GB" dirty="0"/>
              <a:t>, und </a:t>
            </a:r>
            <a:r>
              <a:rPr lang="en-GB" dirty="0" err="1"/>
              <a:t>wir</a:t>
            </a:r>
            <a:r>
              <a:rPr lang="en-GB" dirty="0"/>
              <a:t> </a:t>
            </a:r>
            <a:r>
              <a:rPr lang="en-GB" dirty="0" err="1"/>
              <a:t>nehmen</a:t>
            </a:r>
            <a:r>
              <a:rPr lang="en-GB" dirty="0"/>
              <a:t> die </a:t>
            </a:r>
            <a:r>
              <a:rPr lang="en-GB" dirty="0" err="1"/>
              <a:t>Wahrscheinlichkeit</a:t>
            </a:r>
            <a:r>
              <a:rPr lang="en-GB" dirty="0"/>
              <a:t> für dieses </a:t>
            </a:r>
            <a:r>
              <a:rPr lang="en-GB" dirty="0" err="1"/>
              <a:t>erste</a:t>
            </a:r>
            <a:r>
              <a:rPr lang="en-GB" dirty="0"/>
              <a:t> Token.“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„Bei </a:t>
            </a:r>
            <a:r>
              <a:rPr lang="en-GB" b="1" dirty="0"/>
              <a:t>Self-Probing</a:t>
            </a:r>
            <a:r>
              <a:rPr lang="en-GB" dirty="0"/>
              <a:t> </a:t>
            </a:r>
            <a:r>
              <a:rPr lang="en-GB" dirty="0" err="1"/>
              <a:t>lassen</a:t>
            </a:r>
            <a:r>
              <a:rPr lang="en-GB" dirty="0"/>
              <a:t> </a:t>
            </a:r>
            <a:r>
              <a:rPr lang="en-GB" dirty="0" err="1"/>
              <a:t>wir</a:t>
            </a:r>
            <a:r>
              <a:rPr lang="en-GB" dirty="0"/>
              <a:t> das Modell </a:t>
            </a:r>
            <a:r>
              <a:rPr lang="en-GB" dirty="0" err="1"/>
              <a:t>direkt</a:t>
            </a:r>
            <a:r>
              <a:rPr lang="en-GB" dirty="0"/>
              <a:t> </a:t>
            </a:r>
            <a:r>
              <a:rPr lang="en-GB" dirty="0" err="1"/>
              <a:t>eine</a:t>
            </a:r>
            <a:r>
              <a:rPr lang="en-GB" dirty="0"/>
              <a:t> Zahl </a:t>
            </a:r>
            <a:r>
              <a:rPr lang="en-GB" dirty="0" err="1"/>
              <a:t>zwischen</a:t>
            </a:r>
            <a:r>
              <a:rPr lang="en-GB" dirty="0"/>
              <a:t> 0 und 1 </a:t>
            </a:r>
            <a:r>
              <a:rPr lang="en-GB" dirty="0" err="1"/>
              <a:t>ausgeben</a:t>
            </a:r>
            <a:r>
              <a:rPr lang="en-GB" dirty="0"/>
              <a:t>.“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„Das </a:t>
            </a:r>
            <a:r>
              <a:rPr lang="en-GB" dirty="0" err="1"/>
              <a:t>ist</a:t>
            </a:r>
            <a:r>
              <a:rPr lang="en-GB" dirty="0"/>
              <a:t> </a:t>
            </a:r>
            <a:r>
              <a:rPr lang="en-GB" dirty="0" err="1"/>
              <a:t>einfach</a:t>
            </a:r>
            <a:r>
              <a:rPr lang="en-GB" dirty="0"/>
              <a:t> </a:t>
            </a:r>
            <a:r>
              <a:rPr lang="en-GB" dirty="0" err="1"/>
              <a:t>umzusetzen</a:t>
            </a:r>
            <a:r>
              <a:rPr lang="en-GB" dirty="0"/>
              <a:t>, </a:t>
            </a:r>
            <a:r>
              <a:rPr lang="en-GB" dirty="0" err="1"/>
              <a:t>kostet</a:t>
            </a:r>
            <a:r>
              <a:rPr lang="en-GB" dirty="0"/>
              <a:t> </a:t>
            </a:r>
            <a:r>
              <a:rPr lang="en-GB" dirty="0" err="1"/>
              <a:t>aber</a:t>
            </a:r>
            <a:r>
              <a:rPr lang="en-GB" dirty="0"/>
              <a:t> </a:t>
            </a:r>
            <a:r>
              <a:rPr lang="en-GB" dirty="0" err="1"/>
              <a:t>zusätzliche</a:t>
            </a:r>
            <a:r>
              <a:rPr lang="en-GB" dirty="0"/>
              <a:t> </a:t>
            </a:r>
            <a:r>
              <a:rPr lang="en-GB" dirty="0" err="1"/>
              <a:t>Abfragen</a:t>
            </a:r>
            <a:r>
              <a:rPr lang="en-GB" dirty="0"/>
              <a:t> und </a:t>
            </a:r>
            <a:r>
              <a:rPr lang="en-GB" dirty="0" err="1"/>
              <a:t>ist</a:t>
            </a:r>
            <a:r>
              <a:rPr lang="en-GB" dirty="0"/>
              <a:t> oft </a:t>
            </a:r>
            <a:r>
              <a:rPr lang="en-GB" dirty="0" err="1"/>
              <a:t>nicht</a:t>
            </a:r>
            <a:r>
              <a:rPr lang="en-GB" dirty="0"/>
              <a:t> </a:t>
            </a:r>
            <a:r>
              <a:rPr lang="en-GB" dirty="0" err="1"/>
              <a:t>besonders</a:t>
            </a:r>
            <a:r>
              <a:rPr lang="en-GB" dirty="0"/>
              <a:t> gut </a:t>
            </a:r>
            <a:r>
              <a:rPr lang="en-GB" dirty="0" err="1"/>
              <a:t>kalibriert</a:t>
            </a:r>
            <a:r>
              <a:rPr lang="en-GB" dirty="0"/>
              <a:t>.“</a:t>
            </a:r>
          </a:p>
          <a:p>
            <a:pPr>
              <a:buNone/>
            </a:pPr>
            <a:br>
              <a:rPr lang="en-GB" dirty="0"/>
            </a:br>
            <a:endParaRPr lang="en-GB" dirty="0"/>
          </a:p>
          <a:p>
            <a:pPr>
              <a:buNone/>
            </a:pPr>
            <a:r>
              <a:rPr lang="en-GB" b="1" dirty="0" err="1"/>
              <a:t>Aggregationsmetriken</a:t>
            </a:r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„Hier </a:t>
            </a:r>
            <a:r>
              <a:rPr lang="en-GB" dirty="0" err="1"/>
              <a:t>brauchen</a:t>
            </a:r>
            <a:r>
              <a:rPr lang="en-GB" dirty="0"/>
              <a:t> </a:t>
            </a:r>
            <a:r>
              <a:rPr lang="en-GB" dirty="0" err="1"/>
              <a:t>wir</a:t>
            </a:r>
            <a:r>
              <a:rPr lang="en-GB" dirty="0"/>
              <a:t> </a:t>
            </a:r>
            <a:r>
              <a:rPr lang="en-GB" dirty="0" err="1"/>
              <a:t>keine</a:t>
            </a:r>
            <a:r>
              <a:rPr lang="en-GB" dirty="0"/>
              <a:t> </a:t>
            </a:r>
            <a:r>
              <a:rPr lang="en-GB" dirty="0" err="1"/>
              <a:t>Zusatz</a:t>
            </a:r>
            <a:r>
              <a:rPr lang="en-GB" dirty="0"/>
              <a:t>-Prompts. Wir </a:t>
            </a:r>
            <a:r>
              <a:rPr lang="en-GB" dirty="0" err="1"/>
              <a:t>schauen</a:t>
            </a:r>
            <a:r>
              <a:rPr lang="en-GB" dirty="0"/>
              <a:t> </a:t>
            </a:r>
            <a:r>
              <a:rPr lang="en-GB" dirty="0" err="1"/>
              <a:t>uns</a:t>
            </a:r>
            <a:r>
              <a:rPr lang="en-GB" dirty="0"/>
              <a:t> </a:t>
            </a:r>
            <a:r>
              <a:rPr lang="en-GB" dirty="0" err="1"/>
              <a:t>direkt</a:t>
            </a:r>
            <a:r>
              <a:rPr lang="en-GB" dirty="0"/>
              <a:t> die </a:t>
            </a:r>
            <a:r>
              <a:rPr lang="en-GB" dirty="0" err="1"/>
              <a:t>Wahrscheinlichkeiten</a:t>
            </a:r>
            <a:r>
              <a:rPr lang="en-GB" dirty="0"/>
              <a:t> der Tokens in der </a:t>
            </a:r>
            <a:r>
              <a:rPr lang="en-GB" dirty="0" err="1"/>
              <a:t>Antwort</a:t>
            </a:r>
            <a:r>
              <a:rPr lang="en-GB" dirty="0"/>
              <a:t> an.“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„</a:t>
            </a:r>
            <a:r>
              <a:rPr lang="en-GB" b="1" dirty="0" err="1"/>
              <a:t>Probas</a:t>
            </a:r>
            <a:r>
              <a:rPr lang="en-GB" b="1" dirty="0"/>
              <a:t>-Mean</a:t>
            </a:r>
            <a:r>
              <a:rPr lang="en-GB" dirty="0"/>
              <a:t>: </a:t>
            </a:r>
            <a:r>
              <a:rPr lang="en-GB" dirty="0" err="1"/>
              <a:t>Durchschnitt</a:t>
            </a:r>
            <a:r>
              <a:rPr lang="en-GB" dirty="0"/>
              <a:t> </a:t>
            </a:r>
            <a:r>
              <a:rPr lang="en-GB" dirty="0" err="1"/>
              <a:t>aller</a:t>
            </a:r>
            <a:r>
              <a:rPr lang="en-GB" dirty="0"/>
              <a:t> Token-</a:t>
            </a:r>
            <a:r>
              <a:rPr lang="en-GB" dirty="0" err="1"/>
              <a:t>Wahrscheinlichkeiten</a:t>
            </a:r>
            <a:r>
              <a:rPr lang="en-GB" dirty="0"/>
              <a:t> – das </a:t>
            </a:r>
            <a:r>
              <a:rPr lang="en-GB" dirty="0" err="1"/>
              <a:t>glättet</a:t>
            </a:r>
            <a:r>
              <a:rPr lang="en-GB" dirty="0"/>
              <a:t>, </a:t>
            </a:r>
            <a:r>
              <a:rPr lang="en-GB" dirty="0" err="1"/>
              <a:t>ist</a:t>
            </a:r>
            <a:r>
              <a:rPr lang="en-GB" dirty="0"/>
              <a:t> </a:t>
            </a:r>
            <a:r>
              <a:rPr lang="en-GB" dirty="0" err="1"/>
              <a:t>aber</a:t>
            </a:r>
            <a:r>
              <a:rPr lang="en-GB" dirty="0"/>
              <a:t> oft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optimistisch</a:t>
            </a:r>
            <a:r>
              <a:rPr lang="en-GB" dirty="0"/>
              <a:t> </a:t>
            </a:r>
            <a:r>
              <a:rPr lang="en-GB" dirty="0" err="1"/>
              <a:t>bei</a:t>
            </a:r>
            <a:r>
              <a:rPr lang="en-GB" dirty="0"/>
              <a:t> </a:t>
            </a:r>
            <a:r>
              <a:rPr lang="en-GB" dirty="0" err="1"/>
              <a:t>langen</a:t>
            </a:r>
            <a:r>
              <a:rPr lang="en-GB" dirty="0"/>
              <a:t> </a:t>
            </a:r>
            <a:r>
              <a:rPr lang="en-GB" dirty="0" err="1"/>
              <a:t>Antworten</a:t>
            </a:r>
            <a:r>
              <a:rPr lang="en-GB" dirty="0"/>
              <a:t>.“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„</a:t>
            </a:r>
            <a:r>
              <a:rPr lang="en-GB" b="1" dirty="0" err="1"/>
              <a:t>Probas</a:t>
            </a:r>
            <a:r>
              <a:rPr lang="en-GB" b="1" dirty="0"/>
              <a:t>-Min</a:t>
            </a:r>
            <a:r>
              <a:rPr lang="en-GB" dirty="0"/>
              <a:t>: Wir </a:t>
            </a:r>
            <a:r>
              <a:rPr lang="en-GB" dirty="0" err="1"/>
              <a:t>nehmen</a:t>
            </a:r>
            <a:r>
              <a:rPr lang="en-GB" dirty="0"/>
              <a:t> </a:t>
            </a:r>
            <a:r>
              <a:rPr lang="en-GB" dirty="0" err="1"/>
              <a:t>nur</a:t>
            </a:r>
            <a:r>
              <a:rPr lang="en-GB" dirty="0"/>
              <a:t> das </a:t>
            </a:r>
            <a:r>
              <a:rPr lang="en-GB" dirty="0" err="1"/>
              <a:t>unsicherste</a:t>
            </a:r>
            <a:r>
              <a:rPr lang="en-GB" dirty="0"/>
              <a:t> Token – das </a:t>
            </a:r>
            <a:r>
              <a:rPr lang="en-GB" dirty="0" err="1"/>
              <a:t>ist</a:t>
            </a:r>
            <a:r>
              <a:rPr lang="en-GB" dirty="0"/>
              <a:t> </a:t>
            </a:r>
            <a:r>
              <a:rPr lang="en-GB" dirty="0" err="1"/>
              <a:t>sehr</a:t>
            </a:r>
            <a:r>
              <a:rPr lang="en-GB" dirty="0"/>
              <a:t> </a:t>
            </a:r>
            <a:r>
              <a:rPr lang="en-GB" dirty="0" err="1"/>
              <a:t>sensitiv</a:t>
            </a:r>
            <a:r>
              <a:rPr lang="en-GB" dirty="0"/>
              <a:t>, Fehler fallen </a:t>
            </a:r>
            <a:r>
              <a:rPr lang="en-GB" dirty="0" err="1"/>
              <a:t>sofort</a:t>
            </a:r>
            <a:r>
              <a:rPr lang="en-GB" dirty="0"/>
              <a:t> auf.“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„</a:t>
            </a:r>
            <a:r>
              <a:rPr lang="en-GB" b="1" dirty="0"/>
              <a:t>Token-SAR</a:t>
            </a:r>
            <a:r>
              <a:rPr lang="en-GB" dirty="0"/>
              <a:t>: Wir </a:t>
            </a:r>
            <a:r>
              <a:rPr lang="en-GB" dirty="0" err="1"/>
              <a:t>gewichten</a:t>
            </a:r>
            <a:r>
              <a:rPr lang="en-GB" dirty="0"/>
              <a:t> </a:t>
            </a:r>
            <a:r>
              <a:rPr lang="en-GB" dirty="0" err="1"/>
              <a:t>zusätzlich</a:t>
            </a:r>
            <a:r>
              <a:rPr lang="en-GB" dirty="0"/>
              <a:t> </a:t>
            </a:r>
            <a:r>
              <a:rPr lang="en-GB" dirty="0" err="1"/>
              <a:t>nach</a:t>
            </a:r>
            <a:r>
              <a:rPr lang="en-GB" dirty="0"/>
              <a:t> </a:t>
            </a:r>
            <a:r>
              <a:rPr lang="en-GB" dirty="0" err="1"/>
              <a:t>Relevanz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– Ein </a:t>
            </a:r>
            <a:r>
              <a:rPr lang="en-GB" dirty="0" err="1"/>
              <a:t>wichtiges</a:t>
            </a:r>
            <a:r>
              <a:rPr lang="en-GB" dirty="0"/>
              <a:t> Token, z. B. </a:t>
            </a:r>
            <a:r>
              <a:rPr lang="en-GB" dirty="0" err="1"/>
              <a:t>eine</a:t>
            </a:r>
            <a:r>
              <a:rPr lang="en-GB" dirty="0"/>
              <a:t> Zahl, </a:t>
            </a:r>
            <a:r>
              <a:rPr lang="en-GB" dirty="0" err="1"/>
              <a:t>zählt</a:t>
            </a:r>
            <a:r>
              <a:rPr lang="en-GB" dirty="0"/>
              <a:t> </a:t>
            </a:r>
            <a:r>
              <a:rPr lang="en-GB" dirty="0" err="1"/>
              <a:t>stärker</a:t>
            </a:r>
            <a:r>
              <a:rPr lang="en-GB" dirty="0"/>
              <a:t> </a:t>
            </a:r>
            <a:r>
              <a:rPr lang="en-GB" dirty="0" err="1"/>
              <a:t>als</a:t>
            </a:r>
            <a:r>
              <a:rPr lang="en-GB" dirty="0"/>
              <a:t> </a:t>
            </a:r>
            <a:r>
              <a:rPr lang="en-GB" dirty="0" err="1"/>
              <a:t>ein</a:t>
            </a:r>
            <a:r>
              <a:rPr lang="en-GB" dirty="0"/>
              <a:t> </a:t>
            </a:r>
            <a:r>
              <a:rPr lang="en-GB" dirty="0" err="1"/>
              <a:t>Füllwort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– </a:t>
            </a:r>
            <a:r>
              <a:rPr lang="en-GB" dirty="0" err="1"/>
              <a:t>Diese</a:t>
            </a:r>
            <a:r>
              <a:rPr lang="en-GB" dirty="0"/>
              <a:t> </a:t>
            </a:r>
            <a:r>
              <a:rPr lang="en-GB" dirty="0" err="1"/>
              <a:t>Wichtigkeit</a:t>
            </a:r>
            <a:r>
              <a:rPr lang="en-GB" dirty="0"/>
              <a:t> </a:t>
            </a:r>
            <a:r>
              <a:rPr lang="en-GB" dirty="0" err="1"/>
              <a:t>wird</a:t>
            </a:r>
            <a:r>
              <a:rPr lang="en-GB" dirty="0"/>
              <a:t> </a:t>
            </a:r>
            <a:r>
              <a:rPr lang="en-GB" dirty="0" err="1"/>
              <a:t>automatisch</a:t>
            </a:r>
            <a:r>
              <a:rPr lang="en-GB" dirty="0"/>
              <a:t> </a:t>
            </a:r>
            <a:r>
              <a:rPr lang="en-GB" dirty="0" err="1"/>
              <a:t>berechnet</a:t>
            </a:r>
            <a:r>
              <a:rPr lang="en-GB" dirty="0"/>
              <a:t>, </a:t>
            </a:r>
            <a:r>
              <a:rPr lang="en-GB" dirty="0" err="1"/>
              <a:t>indem</a:t>
            </a:r>
            <a:r>
              <a:rPr lang="en-GB" dirty="0"/>
              <a:t> </a:t>
            </a:r>
            <a:r>
              <a:rPr lang="en-GB" dirty="0" err="1"/>
              <a:t>ein</a:t>
            </a:r>
            <a:r>
              <a:rPr lang="en-GB" dirty="0"/>
              <a:t> Cross-Encoder </a:t>
            </a:r>
            <a:r>
              <a:rPr lang="en-GB" dirty="0" err="1"/>
              <a:t>prüft</a:t>
            </a:r>
            <a:r>
              <a:rPr lang="en-GB" dirty="0"/>
              <a:t>, </a:t>
            </a:r>
            <a:r>
              <a:rPr lang="en-GB" dirty="0" err="1"/>
              <a:t>wie</a:t>
            </a:r>
            <a:r>
              <a:rPr lang="en-GB" dirty="0"/>
              <a:t> stark </a:t>
            </a:r>
            <a:r>
              <a:rPr lang="en-GB" dirty="0" err="1"/>
              <a:t>sich</a:t>
            </a:r>
            <a:r>
              <a:rPr lang="en-GB" dirty="0"/>
              <a:t> die </a:t>
            </a:r>
            <a:r>
              <a:rPr lang="en-GB" dirty="0" err="1"/>
              <a:t>Antwort</a:t>
            </a:r>
            <a:r>
              <a:rPr lang="en-GB" dirty="0"/>
              <a:t> </a:t>
            </a:r>
            <a:r>
              <a:rPr lang="en-GB" dirty="0" err="1"/>
              <a:t>verändert</a:t>
            </a:r>
            <a:r>
              <a:rPr lang="en-GB" dirty="0"/>
              <a:t>, </a:t>
            </a:r>
            <a:r>
              <a:rPr lang="en-GB" dirty="0" err="1"/>
              <a:t>wenn</a:t>
            </a:r>
            <a:r>
              <a:rPr lang="en-GB" dirty="0"/>
              <a:t> man </a:t>
            </a:r>
            <a:r>
              <a:rPr lang="en-GB" dirty="0" err="1"/>
              <a:t>ein</a:t>
            </a:r>
            <a:r>
              <a:rPr lang="en-GB" dirty="0"/>
              <a:t> Token </a:t>
            </a:r>
            <a:r>
              <a:rPr lang="en-GB" dirty="0" err="1"/>
              <a:t>entfernt</a:t>
            </a:r>
            <a:r>
              <a:rPr lang="en-GB" dirty="0"/>
              <a:t>.“</a:t>
            </a:r>
          </a:p>
          <a:p>
            <a:pPr>
              <a:buNone/>
            </a:pPr>
            <a:br>
              <a:rPr lang="en-GB" dirty="0"/>
            </a:br>
            <a:endParaRPr lang="en-GB" dirty="0"/>
          </a:p>
          <a:p>
            <a:pPr>
              <a:buNone/>
            </a:pPr>
            <a:r>
              <a:rPr lang="en-GB" b="1" dirty="0" err="1"/>
              <a:t>Abschluss</a:t>
            </a:r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„</a:t>
            </a:r>
            <a:r>
              <a:rPr lang="en-GB" dirty="0" err="1"/>
              <a:t>Zusammengefasst</a:t>
            </a:r>
            <a:r>
              <a:rPr lang="en-GB" dirty="0"/>
              <a:t>: Self-Eval </a:t>
            </a:r>
            <a:r>
              <a:rPr lang="en-GB" dirty="0" err="1"/>
              <a:t>ist</a:t>
            </a:r>
            <a:r>
              <a:rPr lang="en-GB" dirty="0"/>
              <a:t> </a:t>
            </a:r>
            <a:r>
              <a:rPr lang="en-GB" dirty="0" err="1"/>
              <a:t>eher</a:t>
            </a:r>
            <a:r>
              <a:rPr lang="en-GB" dirty="0"/>
              <a:t> </a:t>
            </a:r>
            <a:r>
              <a:rPr lang="en-GB" dirty="0" err="1"/>
              <a:t>ein</a:t>
            </a:r>
            <a:r>
              <a:rPr lang="en-GB" dirty="0"/>
              <a:t> </a:t>
            </a:r>
            <a:r>
              <a:rPr lang="en-GB" i="1" dirty="0" err="1"/>
              <a:t>Selbstbericht</a:t>
            </a:r>
            <a:r>
              <a:rPr lang="en-GB" dirty="0"/>
              <a:t> des </a:t>
            </a:r>
            <a:r>
              <a:rPr lang="en-GB" dirty="0" err="1"/>
              <a:t>Modells</a:t>
            </a:r>
            <a:r>
              <a:rPr lang="en-GB" dirty="0"/>
              <a:t>, Aggregation </a:t>
            </a:r>
            <a:r>
              <a:rPr lang="en-GB" dirty="0" err="1"/>
              <a:t>ist</a:t>
            </a:r>
            <a:r>
              <a:rPr lang="en-GB" dirty="0"/>
              <a:t> </a:t>
            </a:r>
            <a:r>
              <a:rPr lang="en-GB" dirty="0" err="1"/>
              <a:t>eine</a:t>
            </a:r>
            <a:r>
              <a:rPr lang="en-GB" dirty="0"/>
              <a:t> </a:t>
            </a:r>
            <a:r>
              <a:rPr lang="en-GB" i="1" dirty="0" err="1"/>
              <a:t>statistische</a:t>
            </a:r>
            <a:r>
              <a:rPr lang="en-GB" i="1" dirty="0"/>
              <a:t> </a:t>
            </a:r>
            <a:r>
              <a:rPr lang="en-GB" i="1" dirty="0" err="1"/>
              <a:t>Auswertung</a:t>
            </a:r>
            <a:r>
              <a:rPr lang="en-GB" dirty="0"/>
              <a:t> seiner Token-</a:t>
            </a:r>
            <a:r>
              <a:rPr lang="en-GB" dirty="0" err="1"/>
              <a:t>Verteilungen</a:t>
            </a:r>
            <a:r>
              <a:rPr lang="en-GB" dirty="0"/>
              <a:t>.“</a:t>
            </a:r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2787F-12B6-EA43-A6ED-0B4B98639249}" type="slidenum">
              <a:rPr lang="en-CH" smtClean="0"/>
              <a:t>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6569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„Ich </a:t>
            </a:r>
            <a:r>
              <a:rPr lang="en-GB" dirty="0" err="1"/>
              <a:t>habe</a:t>
            </a:r>
            <a:r>
              <a:rPr lang="en-GB" dirty="0"/>
              <a:t> </a:t>
            </a:r>
            <a:r>
              <a:rPr lang="en-GB" dirty="0" err="1"/>
              <a:t>meine</a:t>
            </a:r>
            <a:r>
              <a:rPr lang="en-GB" dirty="0"/>
              <a:t> Arbeit </a:t>
            </a:r>
            <a:r>
              <a:rPr lang="en-GB" dirty="0" err="1"/>
              <a:t>entlang</a:t>
            </a:r>
            <a:r>
              <a:rPr lang="en-GB" dirty="0"/>
              <a:t> von vier </a:t>
            </a:r>
            <a:r>
              <a:rPr lang="en-GB" dirty="0" err="1"/>
              <a:t>zentralen</a:t>
            </a:r>
            <a:r>
              <a:rPr lang="en-GB" dirty="0"/>
              <a:t> </a:t>
            </a:r>
            <a:r>
              <a:rPr lang="en-GB" dirty="0" err="1"/>
              <a:t>Forschungsfragen</a:t>
            </a:r>
            <a:r>
              <a:rPr lang="en-GB" dirty="0"/>
              <a:t> </a:t>
            </a:r>
            <a:r>
              <a:rPr lang="en-GB" dirty="0" err="1"/>
              <a:t>strukturiert</a:t>
            </a:r>
            <a:r>
              <a:rPr lang="en-GB" dirty="0"/>
              <a:t>.“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„Auf der Folie </a:t>
            </a:r>
            <a:r>
              <a:rPr lang="en-GB" dirty="0" err="1"/>
              <a:t>seht</a:t>
            </a:r>
            <a:r>
              <a:rPr lang="en-GB" dirty="0"/>
              <a:t> </a:t>
            </a:r>
            <a:r>
              <a:rPr lang="en-GB" dirty="0" err="1"/>
              <a:t>ihr</a:t>
            </a:r>
            <a:r>
              <a:rPr lang="en-GB" dirty="0"/>
              <a:t> </a:t>
            </a:r>
            <a:r>
              <a:rPr lang="en-GB" dirty="0" err="1"/>
              <a:t>eine</a:t>
            </a:r>
            <a:r>
              <a:rPr lang="en-GB" dirty="0"/>
              <a:t> </a:t>
            </a:r>
            <a:r>
              <a:rPr lang="en-GB" b="1" dirty="0" err="1"/>
              <a:t>vereinfachte</a:t>
            </a:r>
            <a:r>
              <a:rPr lang="en-GB" b="1" dirty="0"/>
              <a:t> </a:t>
            </a:r>
            <a:r>
              <a:rPr lang="en-GB" b="1" dirty="0" err="1"/>
              <a:t>Formulierung</a:t>
            </a:r>
            <a:r>
              <a:rPr lang="en-GB" dirty="0"/>
              <a:t> – in der </a:t>
            </a:r>
            <a:r>
              <a:rPr lang="en-GB" dirty="0" err="1"/>
              <a:t>schriftlichen</a:t>
            </a:r>
            <a:r>
              <a:rPr lang="en-GB" dirty="0"/>
              <a:t> Arbeit </a:t>
            </a:r>
            <a:r>
              <a:rPr lang="en-GB" dirty="0" err="1"/>
              <a:t>sind</a:t>
            </a:r>
            <a:r>
              <a:rPr lang="en-GB" dirty="0"/>
              <a:t> die </a:t>
            </a:r>
            <a:r>
              <a:rPr lang="en-GB" dirty="0" err="1"/>
              <a:t>Fragen</a:t>
            </a:r>
            <a:r>
              <a:rPr lang="en-GB" dirty="0"/>
              <a:t> </a:t>
            </a:r>
            <a:r>
              <a:rPr lang="en-GB" dirty="0" err="1"/>
              <a:t>detaillierter</a:t>
            </a:r>
            <a:r>
              <a:rPr lang="en-GB" dirty="0"/>
              <a:t> und </a:t>
            </a:r>
            <a:r>
              <a:rPr lang="en-GB" dirty="0" err="1"/>
              <a:t>technischer</a:t>
            </a:r>
            <a:r>
              <a:rPr lang="en-GB" dirty="0"/>
              <a:t> </a:t>
            </a:r>
            <a:r>
              <a:rPr lang="en-GB" dirty="0" err="1"/>
              <a:t>beschrieben</a:t>
            </a:r>
            <a:r>
              <a:rPr lang="en-GB" dirty="0"/>
              <a:t>.“</a:t>
            </a:r>
          </a:p>
          <a:p>
            <a:pPr>
              <a:buNone/>
            </a:pPr>
            <a:br>
              <a:rPr lang="en-GB" dirty="0"/>
            </a:br>
            <a:endParaRPr lang="en-GB" dirty="0"/>
          </a:p>
          <a:p>
            <a:pPr>
              <a:buNone/>
            </a:pPr>
            <a:r>
              <a:rPr lang="en-GB" b="1" dirty="0"/>
              <a:t>F1 – Aggregation: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„Die </a:t>
            </a:r>
            <a:r>
              <a:rPr lang="en-GB" dirty="0" err="1"/>
              <a:t>erste</a:t>
            </a:r>
            <a:r>
              <a:rPr lang="en-GB" dirty="0"/>
              <a:t> Frage </a:t>
            </a:r>
            <a:r>
              <a:rPr lang="en-GB" dirty="0" err="1"/>
              <a:t>untersucht</a:t>
            </a:r>
            <a:r>
              <a:rPr lang="en-GB" dirty="0"/>
              <a:t>, </a:t>
            </a:r>
            <a:r>
              <a:rPr lang="en-GB" dirty="0" err="1"/>
              <a:t>ob</a:t>
            </a:r>
            <a:r>
              <a:rPr lang="en-GB" dirty="0"/>
              <a:t> </a:t>
            </a:r>
            <a:r>
              <a:rPr lang="en-GB" dirty="0" err="1"/>
              <a:t>Informationen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den Reasoning-</a:t>
            </a:r>
            <a:r>
              <a:rPr lang="en-GB" dirty="0" err="1"/>
              <a:t>Zwischenschritten</a:t>
            </a:r>
            <a:r>
              <a:rPr lang="en-GB" dirty="0"/>
              <a:t> – also Keywords und Importance-Scores – </a:t>
            </a:r>
            <a:r>
              <a:rPr lang="en-GB" dirty="0" err="1"/>
              <a:t>dabei</a:t>
            </a:r>
            <a:r>
              <a:rPr lang="en-GB" dirty="0"/>
              <a:t> </a:t>
            </a:r>
            <a:r>
              <a:rPr lang="en-GB" dirty="0" err="1"/>
              <a:t>helfen</a:t>
            </a:r>
            <a:r>
              <a:rPr lang="en-GB" dirty="0"/>
              <a:t> </a:t>
            </a:r>
            <a:r>
              <a:rPr lang="en-GB" dirty="0" err="1"/>
              <a:t>können</a:t>
            </a:r>
            <a:r>
              <a:rPr lang="en-GB" dirty="0"/>
              <a:t>, die </a:t>
            </a:r>
            <a:r>
              <a:rPr lang="en-GB" dirty="0" err="1"/>
              <a:t>Aggregationsmetriken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verbessern</a:t>
            </a:r>
            <a:r>
              <a:rPr lang="en-GB" dirty="0"/>
              <a:t>. Das </a:t>
            </a:r>
            <a:r>
              <a:rPr lang="en-GB" dirty="0" err="1"/>
              <a:t>heißt</a:t>
            </a:r>
            <a:r>
              <a:rPr lang="en-GB" dirty="0"/>
              <a:t>: </a:t>
            </a:r>
            <a:r>
              <a:rPr lang="en-GB" dirty="0" err="1"/>
              <a:t>Können</a:t>
            </a:r>
            <a:r>
              <a:rPr lang="en-GB" dirty="0"/>
              <a:t> </a:t>
            </a:r>
            <a:r>
              <a:rPr lang="en-GB" dirty="0" err="1"/>
              <a:t>wir</a:t>
            </a:r>
            <a:r>
              <a:rPr lang="en-GB" dirty="0"/>
              <a:t> </a:t>
            </a:r>
            <a:r>
              <a:rPr lang="en-GB" dirty="0" err="1"/>
              <a:t>Unsicherheit</a:t>
            </a:r>
            <a:r>
              <a:rPr lang="en-GB" dirty="0"/>
              <a:t> </a:t>
            </a:r>
            <a:r>
              <a:rPr lang="en-GB" dirty="0" err="1"/>
              <a:t>besser</a:t>
            </a:r>
            <a:r>
              <a:rPr lang="en-GB" dirty="0"/>
              <a:t> </a:t>
            </a:r>
            <a:r>
              <a:rPr lang="en-GB" dirty="0" err="1"/>
              <a:t>erfassen</a:t>
            </a:r>
            <a:r>
              <a:rPr lang="en-GB" dirty="0"/>
              <a:t>, </a:t>
            </a:r>
            <a:r>
              <a:rPr lang="en-GB" dirty="0" err="1"/>
              <a:t>wenn</a:t>
            </a:r>
            <a:r>
              <a:rPr lang="en-GB" dirty="0"/>
              <a:t> </a:t>
            </a:r>
            <a:r>
              <a:rPr lang="en-GB" dirty="0" err="1"/>
              <a:t>wir</a:t>
            </a:r>
            <a:r>
              <a:rPr lang="en-GB" dirty="0"/>
              <a:t> </a:t>
            </a:r>
            <a:r>
              <a:rPr lang="en-GB" dirty="0" err="1"/>
              <a:t>nicht</a:t>
            </a:r>
            <a:r>
              <a:rPr lang="en-GB" dirty="0"/>
              <a:t> </a:t>
            </a:r>
            <a:r>
              <a:rPr lang="en-GB" dirty="0" err="1"/>
              <a:t>nur</a:t>
            </a:r>
            <a:r>
              <a:rPr lang="en-GB" dirty="0"/>
              <a:t> das </a:t>
            </a:r>
            <a:r>
              <a:rPr lang="en-GB" dirty="0" err="1"/>
              <a:t>Endergebnis</a:t>
            </a:r>
            <a:r>
              <a:rPr lang="en-GB" dirty="0"/>
              <a:t>, </a:t>
            </a:r>
            <a:r>
              <a:rPr lang="en-GB" dirty="0" err="1"/>
              <a:t>sondern</a:t>
            </a:r>
            <a:r>
              <a:rPr lang="en-GB" dirty="0"/>
              <a:t> </a:t>
            </a:r>
            <a:r>
              <a:rPr lang="en-GB" dirty="0" err="1"/>
              <a:t>auch</a:t>
            </a:r>
            <a:r>
              <a:rPr lang="en-GB" dirty="0"/>
              <a:t> die </a:t>
            </a:r>
            <a:r>
              <a:rPr lang="en-GB" dirty="0" err="1"/>
              <a:t>Begründung</a:t>
            </a:r>
            <a:r>
              <a:rPr lang="en-GB" dirty="0"/>
              <a:t> </a:t>
            </a:r>
            <a:r>
              <a:rPr lang="en-GB" dirty="0" err="1"/>
              <a:t>berücksichtigen</a:t>
            </a:r>
            <a:r>
              <a:rPr lang="en-GB" dirty="0"/>
              <a:t>?“</a:t>
            </a:r>
          </a:p>
          <a:p>
            <a:pPr>
              <a:buNone/>
            </a:pPr>
            <a:br>
              <a:rPr lang="en-GB" dirty="0"/>
            </a:br>
            <a:endParaRPr lang="en-GB" dirty="0"/>
          </a:p>
          <a:p>
            <a:pPr>
              <a:buNone/>
            </a:pPr>
            <a:r>
              <a:rPr lang="en-GB" b="1" dirty="0"/>
              <a:t>F2 – Self-Evaluation: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„Die </a:t>
            </a:r>
            <a:r>
              <a:rPr lang="en-GB" dirty="0" err="1"/>
              <a:t>zweite</a:t>
            </a:r>
            <a:r>
              <a:rPr lang="en-GB" dirty="0"/>
              <a:t> Frage </a:t>
            </a:r>
            <a:r>
              <a:rPr lang="en-GB" dirty="0" err="1"/>
              <a:t>dreht</a:t>
            </a:r>
            <a:r>
              <a:rPr lang="en-GB" dirty="0"/>
              <a:t> </a:t>
            </a:r>
            <a:r>
              <a:rPr lang="en-GB" dirty="0" err="1"/>
              <a:t>sich</a:t>
            </a:r>
            <a:r>
              <a:rPr lang="en-GB" dirty="0"/>
              <a:t> um Self-Evaluation. Wir </a:t>
            </a:r>
            <a:r>
              <a:rPr lang="en-GB" dirty="0" err="1"/>
              <a:t>wollten</a:t>
            </a:r>
            <a:r>
              <a:rPr lang="en-GB" dirty="0"/>
              <a:t> </a:t>
            </a:r>
            <a:r>
              <a:rPr lang="en-GB" dirty="0" err="1"/>
              <a:t>wissen</a:t>
            </a:r>
            <a:r>
              <a:rPr lang="en-GB" dirty="0"/>
              <a:t>: Wenn </a:t>
            </a:r>
            <a:r>
              <a:rPr lang="en-GB" dirty="0" err="1"/>
              <a:t>wir</a:t>
            </a:r>
            <a:r>
              <a:rPr lang="en-GB" dirty="0"/>
              <a:t> den </a:t>
            </a:r>
            <a:r>
              <a:rPr lang="en-GB" dirty="0" err="1"/>
              <a:t>Modellen</a:t>
            </a:r>
            <a:r>
              <a:rPr lang="en-GB" dirty="0"/>
              <a:t> </a:t>
            </a:r>
            <a:r>
              <a:rPr lang="en-GB" dirty="0" err="1"/>
              <a:t>zusätzlichen</a:t>
            </a:r>
            <a:r>
              <a:rPr lang="en-GB" dirty="0"/>
              <a:t> Reasoning-</a:t>
            </a:r>
            <a:r>
              <a:rPr lang="en-GB" dirty="0" err="1"/>
              <a:t>Kontext</a:t>
            </a:r>
            <a:r>
              <a:rPr lang="en-GB" dirty="0"/>
              <a:t> </a:t>
            </a:r>
            <a:r>
              <a:rPr lang="en-GB" dirty="0" err="1"/>
              <a:t>geben</a:t>
            </a:r>
            <a:r>
              <a:rPr lang="en-GB" dirty="0"/>
              <a:t> – also </a:t>
            </a:r>
            <a:r>
              <a:rPr lang="en-GB" dirty="0" err="1"/>
              <a:t>ganze</a:t>
            </a:r>
            <a:r>
              <a:rPr lang="en-GB" dirty="0"/>
              <a:t> </a:t>
            </a:r>
            <a:r>
              <a:rPr lang="en-GB" dirty="0" err="1"/>
              <a:t>Begründungen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wichtige</a:t>
            </a:r>
            <a:r>
              <a:rPr lang="en-GB" dirty="0"/>
              <a:t> </a:t>
            </a:r>
            <a:r>
              <a:rPr lang="en-GB" dirty="0" err="1"/>
              <a:t>Zwischenschritte</a:t>
            </a:r>
            <a:r>
              <a:rPr lang="en-GB" dirty="0"/>
              <a:t> –, </a:t>
            </a:r>
            <a:r>
              <a:rPr lang="en-GB" dirty="0" err="1"/>
              <a:t>verbessert</a:t>
            </a:r>
            <a:r>
              <a:rPr lang="en-GB" dirty="0"/>
              <a:t> das die </a:t>
            </a:r>
            <a:r>
              <a:rPr lang="en-GB" dirty="0" err="1"/>
              <a:t>Qualität</a:t>
            </a:r>
            <a:r>
              <a:rPr lang="en-GB" dirty="0"/>
              <a:t> </a:t>
            </a:r>
            <a:r>
              <a:rPr lang="en-GB" dirty="0" err="1"/>
              <a:t>ihrer</a:t>
            </a:r>
            <a:r>
              <a:rPr lang="en-GB" dirty="0"/>
              <a:t> </a:t>
            </a:r>
            <a:r>
              <a:rPr lang="en-GB" dirty="0" err="1"/>
              <a:t>Selbsteinschätzung</a:t>
            </a:r>
            <a:r>
              <a:rPr lang="en-GB" dirty="0"/>
              <a:t>?“</a:t>
            </a:r>
          </a:p>
          <a:p>
            <a:pPr>
              <a:buNone/>
            </a:pPr>
            <a:br>
              <a:rPr lang="en-GB" dirty="0"/>
            </a:br>
            <a:endParaRPr lang="en-GB" dirty="0"/>
          </a:p>
          <a:p>
            <a:pPr>
              <a:buNone/>
            </a:pPr>
            <a:r>
              <a:rPr lang="en-GB" b="1" dirty="0"/>
              <a:t>F3 – </a:t>
            </a:r>
            <a:r>
              <a:rPr lang="en-GB" b="1" dirty="0" err="1"/>
              <a:t>Effizienz</a:t>
            </a:r>
            <a:r>
              <a:rPr lang="en-GB" b="1" dirty="0"/>
              <a:t> </a:t>
            </a:r>
            <a:r>
              <a:rPr lang="en-GB" b="1" dirty="0" err="1"/>
              <a:t>CoD</a:t>
            </a:r>
            <a:r>
              <a:rPr lang="en-GB" b="1" dirty="0"/>
              <a:t> vs. </a:t>
            </a:r>
            <a:r>
              <a:rPr lang="en-GB" b="1" dirty="0" err="1"/>
              <a:t>CoT</a:t>
            </a:r>
            <a:r>
              <a:rPr lang="en-GB" b="1" dirty="0"/>
              <a:t>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„Die </a:t>
            </a:r>
            <a:r>
              <a:rPr lang="en-GB" dirty="0" err="1"/>
              <a:t>dritte</a:t>
            </a:r>
            <a:r>
              <a:rPr lang="en-GB" dirty="0"/>
              <a:t> Frage </a:t>
            </a:r>
            <a:r>
              <a:rPr lang="en-GB" dirty="0" err="1"/>
              <a:t>vergleicht</a:t>
            </a:r>
            <a:r>
              <a:rPr lang="en-GB" dirty="0"/>
              <a:t> Chain-of-Draft </a:t>
            </a:r>
            <a:r>
              <a:rPr lang="en-GB" dirty="0" err="1"/>
              <a:t>mit</a:t>
            </a:r>
            <a:r>
              <a:rPr lang="en-GB" dirty="0"/>
              <a:t> Chain-of-Thought. Die Idee: </a:t>
            </a:r>
            <a:r>
              <a:rPr lang="en-GB" dirty="0" err="1"/>
              <a:t>CoD</a:t>
            </a:r>
            <a:r>
              <a:rPr lang="en-GB" dirty="0"/>
              <a:t> </a:t>
            </a:r>
            <a:r>
              <a:rPr lang="en-GB" dirty="0" err="1"/>
              <a:t>braucht</a:t>
            </a:r>
            <a:r>
              <a:rPr lang="en-GB" dirty="0"/>
              <a:t> </a:t>
            </a:r>
            <a:r>
              <a:rPr lang="en-GB" dirty="0" err="1"/>
              <a:t>weniger</a:t>
            </a:r>
            <a:r>
              <a:rPr lang="en-GB" dirty="0"/>
              <a:t> Tokens und </a:t>
            </a:r>
            <a:r>
              <a:rPr lang="en-GB" dirty="0" err="1"/>
              <a:t>ist</a:t>
            </a:r>
            <a:r>
              <a:rPr lang="en-GB" dirty="0"/>
              <a:t> </a:t>
            </a:r>
            <a:r>
              <a:rPr lang="en-GB" dirty="0" err="1"/>
              <a:t>effizienter</a:t>
            </a:r>
            <a:r>
              <a:rPr lang="en-GB" dirty="0"/>
              <a:t> – </a:t>
            </a:r>
            <a:r>
              <a:rPr lang="en-GB" dirty="0" err="1"/>
              <a:t>aber</a:t>
            </a:r>
            <a:r>
              <a:rPr lang="en-GB" dirty="0"/>
              <a:t> </a:t>
            </a:r>
            <a:r>
              <a:rPr lang="en-GB" dirty="0" err="1"/>
              <a:t>bleibt</a:t>
            </a:r>
            <a:r>
              <a:rPr lang="en-GB" dirty="0"/>
              <a:t> die </a:t>
            </a:r>
            <a:r>
              <a:rPr lang="en-GB" dirty="0" err="1"/>
              <a:t>Qualität</a:t>
            </a:r>
            <a:r>
              <a:rPr lang="en-GB" dirty="0"/>
              <a:t> der </a:t>
            </a:r>
            <a:r>
              <a:rPr lang="en-GB" dirty="0" err="1"/>
              <a:t>Unsicherheitsabschätzung</a:t>
            </a:r>
            <a:r>
              <a:rPr lang="en-GB" dirty="0"/>
              <a:t> </a:t>
            </a:r>
            <a:r>
              <a:rPr lang="en-GB" dirty="0" err="1"/>
              <a:t>trotzdem</a:t>
            </a:r>
            <a:r>
              <a:rPr lang="en-GB" dirty="0"/>
              <a:t> </a:t>
            </a:r>
            <a:r>
              <a:rPr lang="en-GB" dirty="0" err="1"/>
              <a:t>vergleichbar</a:t>
            </a:r>
            <a:r>
              <a:rPr lang="en-GB" dirty="0"/>
              <a:t>? Und </a:t>
            </a:r>
            <a:r>
              <a:rPr lang="en-GB" dirty="0" err="1"/>
              <a:t>wie</a:t>
            </a:r>
            <a:r>
              <a:rPr lang="en-GB" dirty="0"/>
              <a:t> </a:t>
            </a:r>
            <a:r>
              <a:rPr lang="en-GB" dirty="0" err="1"/>
              <a:t>groß</a:t>
            </a:r>
            <a:r>
              <a:rPr lang="en-GB" dirty="0"/>
              <a:t> </a:t>
            </a:r>
            <a:r>
              <a:rPr lang="en-GB" dirty="0" err="1"/>
              <a:t>ist</a:t>
            </a:r>
            <a:r>
              <a:rPr lang="en-GB" dirty="0"/>
              <a:t> der </a:t>
            </a:r>
            <a:r>
              <a:rPr lang="en-GB" dirty="0" err="1"/>
              <a:t>mögliche</a:t>
            </a:r>
            <a:r>
              <a:rPr lang="en-GB" dirty="0"/>
              <a:t> Accuracy-</a:t>
            </a:r>
            <a:r>
              <a:rPr lang="en-GB" dirty="0" err="1"/>
              <a:t>Verlust</a:t>
            </a:r>
            <a:r>
              <a:rPr lang="en-GB" dirty="0"/>
              <a:t>?“</a:t>
            </a:r>
          </a:p>
          <a:p>
            <a:pPr>
              <a:buNone/>
            </a:pPr>
            <a:br>
              <a:rPr lang="en-GB" dirty="0"/>
            </a:br>
            <a:endParaRPr lang="en-GB" dirty="0"/>
          </a:p>
          <a:p>
            <a:pPr>
              <a:buNone/>
            </a:pPr>
            <a:r>
              <a:rPr lang="en-GB" b="1" dirty="0"/>
              <a:t>F4 – </a:t>
            </a:r>
            <a:r>
              <a:rPr lang="en-GB" b="1" dirty="0" err="1"/>
              <a:t>ToT</a:t>
            </a:r>
            <a:r>
              <a:rPr lang="en-GB" b="1" dirty="0"/>
              <a:t> Kosten–</a:t>
            </a:r>
            <a:r>
              <a:rPr lang="en-GB" b="1" dirty="0" err="1"/>
              <a:t>Genauigkeit</a:t>
            </a:r>
            <a:r>
              <a:rPr lang="en-GB" b="1" dirty="0"/>
              <a:t>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„Die </a:t>
            </a:r>
            <a:r>
              <a:rPr lang="en-GB" dirty="0" err="1"/>
              <a:t>vierte</a:t>
            </a:r>
            <a:r>
              <a:rPr lang="en-GB" dirty="0"/>
              <a:t> Frage </a:t>
            </a:r>
            <a:r>
              <a:rPr lang="en-GB" dirty="0" err="1"/>
              <a:t>betrifft</a:t>
            </a:r>
            <a:r>
              <a:rPr lang="en-GB" dirty="0"/>
              <a:t> Tree-of-Thought. Hier </a:t>
            </a:r>
            <a:r>
              <a:rPr lang="en-GB" dirty="0" err="1"/>
              <a:t>haben</a:t>
            </a:r>
            <a:r>
              <a:rPr lang="en-GB" dirty="0"/>
              <a:t> </a:t>
            </a:r>
            <a:r>
              <a:rPr lang="en-GB" dirty="0" err="1"/>
              <a:t>wir</a:t>
            </a:r>
            <a:r>
              <a:rPr lang="en-GB" dirty="0"/>
              <a:t> </a:t>
            </a:r>
            <a:r>
              <a:rPr lang="en-GB" dirty="0" err="1"/>
              <a:t>uns</a:t>
            </a:r>
            <a:r>
              <a:rPr lang="en-GB" dirty="0"/>
              <a:t> </a:t>
            </a:r>
            <a:r>
              <a:rPr lang="en-GB" dirty="0" err="1"/>
              <a:t>angeschaut</a:t>
            </a:r>
            <a:r>
              <a:rPr lang="en-GB" dirty="0"/>
              <a:t>: Wenn man die Evaluate-</a:t>
            </a:r>
            <a:r>
              <a:rPr lang="en-GB" dirty="0" err="1"/>
              <a:t>Heuristik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tokenbasierte</a:t>
            </a:r>
            <a:r>
              <a:rPr lang="en-GB" dirty="0"/>
              <a:t> Scores </a:t>
            </a:r>
            <a:r>
              <a:rPr lang="en-GB" dirty="0" err="1"/>
              <a:t>ersetzt</a:t>
            </a:r>
            <a:r>
              <a:rPr lang="en-GB" dirty="0"/>
              <a:t> – </a:t>
            </a:r>
            <a:r>
              <a:rPr lang="en-GB" dirty="0" err="1"/>
              <a:t>wie</a:t>
            </a:r>
            <a:r>
              <a:rPr lang="en-GB" dirty="0"/>
              <a:t> </a:t>
            </a:r>
            <a:r>
              <a:rPr lang="en-GB" dirty="0" err="1"/>
              <a:t>verändert</a:t>
            </a:r>
            <a:r>
              <a:rPr lang="en-GB" dirty="0"/>
              <a:t> das den </a:t>
            </a:r>
            <a:r>
              <a:rPr lang="en-GB" dirty="0" err="1"/>
              <a:t>Kompromiss</a:t>
            </a:r>
            <a:r>
              <a:rPr lang="en-GB" dirty="0"/>
              <a:t> </a:t>
            </a:r>
            <a:r>
              <a:rPr lang="en-GB" dirty="0" err="1"/>
              <a:t>zwischen</a:t>
            </a:r>
            <a:r>
              <a:rPr lang="en-GB" dirty="0"/>
              <a:t> Kosten und </a:t>
            </a:r>
            <a:r>
              <a:rPr lang="en-GB" dirty="0" err="1"/>
              <a:t>Genauigkeit</a:t>
            </a:r>
            <a:r>
              <a:rPr lang="en-GB" dirty="0"/>
              <a:t>? Und welches </a:t>
            </a:r>
            <a:r>
              <a:rPr lang="en-GB" dirty="0" err="1"/>
              <a:t>Generierungsregime</a:t>
            </a:r>
            <a:r>
              <a:rPr lang="en-GB" dirty="0"/>
              <a:t> </a:t>
            </a:r>
            <a:r>
              <a:rPr lang="en-GB" dirty="0" err="1"/>
              <a:t>funktioniert</a:t>
            </a:r>
            <a:r>
              <a:rPr lang="en-GB" dirty="0"/>
              <a:t> </a:t>
            </a:r>
            <a:r>
              <a:rPr lang="en-GB" dirty="0" err="1"/>
              <a:t>dabei</a:t>
            </a:r>
            <a:r>
              <a:rPr lang="en-GB" dirty="0"/>
              <a:t> am </a:t>
            </a:r>
            <a:r>
              <a:rPr lang="en-GB" dirty="0" err="1"/>
              <a:t>besten</a:t>
            </a:r>
            <a:r>
              <a:rPr lang="en-GB" dirty="0"/>
              <a:t>?“</a:t>
            </a:r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2787F-12B6-EA43-A6ED-0B4B98639249}" type="slidenum">
              <a:rPr lang="en-CH" smtClean="0"/>
              <a:t>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389739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2787F-12B6-EA43-A6ED-0B4B98639249}" type="slidenum">
              <a:rPr lang="en-CH" smtClean="0"/>
              <a:t>11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77376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2787F-12B6-EA43-A6ED-0B4B98639249}" type="slidenum">
              <a:rPr lang="en-CH" smtClean="0"/>
              <a:t>12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00138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2787F-12B6-EA43-A6ED-0B4B98639249}" type="slidenum">
              <a:rPr lang="en-CH" smtClean="0"/>
              <a:t>22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45662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9D14A-9D8C-8435-7A8F-48E17D5A4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4D2D0D-89FA-D032-AD56-A94D37697D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DE498A-9E6C-1BA4-4634-CF7DE2560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4DBFE2-62F7-8E93-3AB0-D31ED9D6C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F84E8E-A75A-172D-D625-70AA86F77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154971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46" userDrawn="1">
          <p15:clr>
            <a:srgbClr val="FBAE40"/>
          </p15:clr>
        </p15:guide>
        <p15:guide id="4" orient="horz" pos="3974" userDrawn="1">
          <p15:clr>
            <a:srgbClr val="FBAE40"/>
          </p15:clr>
        </p15:guide>
        <p15:guide id="5" pos="7423" userDrawn="1">
          <p15:clr>
            <a:srgbClr val="FBAE40"/>
          </p15:clr>
        </p15:guide>
        <p15:guide id="6" pos="25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28AC9-FF08-54AF-61B6-908D8C499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7C97A-1C85-FA30-A65C-A1AB5C70B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AA918-D8FF-CEF3-2828-21AB990B4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9D054-48AA-8F0B-506C-00674622C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ADB0A-9B2F-8AD4-8F90-FE57B1F13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31320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BAEDB-6AA9-8C1D-D739-7E8968F83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041AE-7E7C-CF66-2A78-4FFBAE55F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5864B-E38B-DDC7-8187-3CB69418F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5C8BD-B1E2-70A4-2F90-5B2A57C0F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66592-541D-B242-30D5-5144927E5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25606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FC85E-258A-D2E7-A8DD-124901AD0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1787C-7AB0-A1FC-1511-64AD457B8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10C643-0CAD-8A78-4E4A-795541455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ABFD8-F94E-D167-5DD4-788570601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C9406-DE7D-C591-A3EF-B65EC5C7D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6C195-EE12-CDF9-A33C-E09D43254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02626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6B527-F950-1A71-F2B7-50A4AE11A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66C87-6A64-D305-106A-63507A4A7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84EFC-480A-DFAE-4852-947653CFFF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0E0466-F1F4-F442-3FF6-5DB02248D6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5FD4E0-B53F-255C-6E67-D91C4AECDA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F76586-86FE-EEF0-BA86-129D1DAC7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5420B4-B331-BC14-74B8-E54F526D0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0EB000-CCE1-3D3D-3D1E-D9B5D33F0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55094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9722C-489C-201F-CAD8-818D85915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D194BD-A450-EFFF-E320-79A002DE1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2184D-A9A7-B87B-6FBE-EB0F260B4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B8079E-61F4-2EE7-24A3-1A957E152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41889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349F55-0106-1CF0-8C60-EE137B450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0149D3-5E99-6AB8-695F-084719AF9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BC0D9-7ACE-0302-823E-63AB080F0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30750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86B0A-7328-9875-74CD-5D1431E65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D6218-93CC-4D6C-182C-6255B4F7E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2BC189-690F-2116-61D3-7C0C2506F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6DB40-D57D-5EE4-D9A8-D0A19CE5C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0EE61-5064-18CF-FACC-A43DD57C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3008D-6FF0-4B1A-99E0-086073F4A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46565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48D62-3AA8-22D8-65A9-2FEE8F1DF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9C3061-EE65-C8F5-CCBF-EBC3397DEF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7E94E9-EEB2-6846-F4A4-8677CA094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D9320-B903-D696-1BCA-2D337A9A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AFD7A-6E3E-2B4F-42F4-BF89B0D64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4C613-4B26-E51D-C1A7-3B8CA69A4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52025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6F111C-9CEB-4F81-92DF-D34F50CF3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</a:t>
            </a:r>
            <a:r>
              <a:rPr lang="en-GB" dirty="0" err="1"/>
              <a:t>Mgfaster</a:t>
            </a:r>
            <a:r>
              <a:rPr lang="en-GB" dirty="0"/>
              <a:t> title style</a:t>
            </a:r>
            <a:endParaRPr lang="en-C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446A0-C951-42FD-CCE3-BD4588786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D2BEA-8946-2748-FF3F-200C56803B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CH"/>
              <a:t>11.09.2025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C1368-FC35-0E9F-6F5A-3D4928D1B3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B7C9C9-20FE-CD4B-BCC8-97294F33EE2E}" type="slidenum">
              <a:rPr lang="en-CH" smtClean="0"/>
              <a:t>‹#›</a:t>
            </a:fld>
            <a:endParaRPr lang="en-CH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F7BD7D4-C3B2-3E3C-A159-7D1A579849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7281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Segoe UI Semibold" panose="020B0502040204020203" pitchFamily="34" charset="0"/>
          <a:ea typeface="+mj-ea"/>
          <a:cs typeface="Segoe UI Semibold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7423" userDrawn="1">
          <p15:clr>
            <a:srgbClr val="F26B43"/>
          </p15:clr>
        </p15:guide>
        <p15:guide id="4" pos="257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34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.svg"/><Relationship Id="rId7" Type="http://schemas.openxmlformats.org/officeDocument/2006/relationships/image" Target="../media/image29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9" Type="http://schemas.openxmlformats.org/officeDocument/2006/relationships/image" Target="../media/image31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201.11903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19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237CC-A1D4-356D-DAFC-248BC4D73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937" y="916715"/>
            <a:ext cx="11160125" cy="3644741"/>
          </a:xfrm>
        </p:spPr>
        <p:txBody>
          <a:bodyPr>
            <a:normAutofit/>
          </a:bodyPr>
          <a:lstStyle/>
          <a:p>
            <a:r>
              <a:rPr lang="en-GB" dirty="0" err="1"/>
              <a:t>Unsicherheitsabschätzung</a:t>
            </a:r>
            <a:r>
              <a:rPr lang="en-GB" dirty="0"/>
              <a:t> in Large Language Models</a:t>
            </a:r>
            <a:br>
              <a:rPr lang="en-GB" dirty="0"/>
            </a:br>
            <a:r>
              <a:rPr lang="en-GB" dirty="0" err="1"/>
              <a:t>mittels</a:t>
            </a:r>
            <a:r>
              <a:rPr lang="en-GB" dirty="0"/>
              <a:t> Reasoning-</a:t>
            </a:r>
            <a:r>
              <a:rPr lang="en-GB" dirty="0" err="1"/>
              <a:t>Strategien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03D51F-3122-CFAD-FDB7-504275800D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7275" y="5506452"/>
            <a:ext cx="9577450" cy="802273"/>
          </a:xfrm>
        </p:spPr>
        <p:txBody>
          <a:bodyPr>
            <a:normAutofit/>
          </a:bodyPr>
          <a:lstStyle/>
          <a:p>
            <a:r>
              <a:rPr lang="en-GB" sz="1800" dirty="0"/>
              <a:t>Mauro Hirt · Bachelor-Thesis </a:t>
            </a:r>
            <a:r>
              <a:rPr lang="en-GB" sz="1800" dirty="0" err="1"/>
              <a:t>Verteidigung</a:t>
            </a:r>
            <a:r>
              <a:rPr lang="en-GB" sz="1800" dirty="0"/>
              <a:t> · FHNW Hochschule für Technik · Aug 2025</a:t>
            </a:r>
          </a:p>
          <a:p>
            <a:r>
              <a:rPr lang="en-GB" sz="1600" dirty="0" err="1"/>
              <a:t>Betreuung</a:t>
            </a:r>
            <a:r>
              <a:rPr lang="en-GB" sz="1600" dirty="0"/>
              <a:t>: Daniel </a:t>
            </a:r>
            <a:r>
              <a:rPr lang="en-GB" sz="1600" dirty="0" err="1"/>
              <a:t>Perruchoud</a:t>
            </a:r>
            <a:r>
              <a:rPr lang="en-GB" sz="1600" dirty="0"/>
              <a:t> · Stephan Heule · Extern: Dominik </a:t>
            </a:r>
            <a:r>
              <a:rPr lang="en-GB" sz="1600" dirty="0" err="1"/>
              <a:t>Frefel</a:t>
            </a:r>
            <a:endParaRPr lang="en-GB" sz="1600" dirty="0"/>
          </a:p>
          <a:p>
            <a:endParaRPr lang="en-CH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E15C7E8-0984-49A4-C7D9-95F8F253DC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8474" y="181834"/>
            <a:ext cx="3217588" cy="73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10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E0028-CEE9-A58C-2428-8DF47746D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B2073-CA10-17A7-DF12-F7D3886AC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Motivation &amp; </a:t>
            </a:r>
            <a:r>
              <a:rPr lang="en-GB" dirty="0" err="1"/>
              <a:t>Problemstellung</a:t>
            </a:r>
            <a:endParaRPr lang="en-GB" dirty="0"/>
          </a:p>
          <a:p>
            <a:r>
              <a:rPr lang="en-GB" dirty="0" err="1"/>
              <a:t>Grundlagen</a:t>
            </a:r>
            <a:endParaRPr lang="en-GB" dirty="0"/>
          </a:p>
          <a:p>
            <a:r>
              <a:rPr lang="en-GB" dirty="0" err="1"/>
              <a:t>Forschungsfragen</a:t>
            </a:r>
            <a:r>
              <a:rPr lang="en-GB" dirty="0"/>
              <a:t> F1-F4</a:t>
            </a:r>
          </a:p>
          <a:p>
            <a:r>
              <a:rPr lang="en-GB" dirty="0" err="1"/>
              <a:t>Haupt­experiment</a:t>
            </a:r>
            <a:r>
              <a:rPr lang="en-GB" dirty="0"/>
              <a:t> &amp; </a:t>
            </a:r>
            <a:r>
              <a:rPr lang="en-GB" dirty="0" err="1"/>
              <a:t>Resultate</a:t>
            </a:r>
            <a:endParaRPr lang="en-GB" dirty="0"/>
          </a:p>
          <a:p>
            <a:r>
              <a:rPr lang="en-GB" dirty="0"/>
              <a:t>Tree-of-Thought (</a:t>
            </a:r>
            <a:r>
              <a:rPr lang="en-GB" dirty="0" err="1"/>
              <a:t>ToT</a:t>
            </a:r>
            <a:r>
              <a:rPr lang="en-GB" dirty="0"/>
              <a:t>): Experiment &amp; </a:t>
            </a:r>
            <a:r>
              <a:rPr lang="en-GB" dirty="0" err="1"/>
              <a:t>Resultate</a:t>
            </a:r>
            <a:endParaRPr lang="en-GB" dirty="0"/>
          </a:p>
          <a:p>
            <a:r>
              <a:rPr lang="en-GB" dirty="0" err="1"/>
              <a:t>Fazit</a:t>
            </a:r>
            <a:endParaRPr lang="en-GB" dirty="0"/>
          </a:p>
          <a:p>
            <a:r>
              <a:rPr lang="en-GB" dirty="0"/>
              <a:t>Q&amp;A</a:t>
            </a:r>
          </a:p>
          <a:p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1B013-600B-BE6C-E38E-DB4B60E47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790FE8-45BF-FE69-D326-E99C7D35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03888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571FA-AE59-FEEF-28A6-9C47DC64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Motivation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30DB9-BEA0-F483-4006-9CC4AEAEE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LLMs </a:t>
            </a:r>
            <a:r>
              <a:rPr lang="en-GB" dirty="0" err="1"/>
              <a:t>klingen</a:t>
            </a:r>
            <a:r>
              <a:rPr lang="en-GB" dirty="0"/>
              <a:t> oft </a:t>
            </a:r>
            <a:r>
              <a:rPr lang="en-GB" b="1" dirty="0" err="1"/>
              <a:t>überzeugend</a:t>
            </a:r>
            <a:r>
              <a:rPr lang="en-GB" b="1" dirty="0"/>
              <a:t> – </a:t>
            </a:r>
            <a:r>
              <a:rPr lang="en-GB" b="1" dirty="0" err="1"/>
              <a:t>auch</a:t>
            </a:r>
            <a:r>
              <a:rPr lang="en-GB" b="1" dirty="0"/>
              <a:t> </a:t>
            </a:r>
            <a:r>
              <a:rPr lang="en-GB" b="1" dirty="0" err="1"/>
              <a:t>wenn</a:t>
            </a:r>
            <a:r>
              <a:rPr lang="en-GB" b="1" dirty="0"/>
              <a:t> </a:t>
            </a:r>
            <a:r>
              <a:rPr lang="en-GB" b="1" dirty="0" err="1"/>
              <a:t>sie</a:t>
            </a:r>
            <a:r>
              <a:rPr lang="en-GB" b="1" dirty="0"/>
              <a:t> </a:t>
            </a:r>
            <a:r>
              <a:rPr lang="en-GB" b="1" dirty="0" err="1"/>
              <a:t>falsch</a:t>
            </a:r>
            <a:r>
              <a:rPr lang="en-GB" b="1" dirty="0"/>
              <a:t> </a:t>
            </a:r>
            <a:r>
              <a:rPr lang="en-GB" b="1" dirty="0" err="1"/>
              <a:t>liegen</a:t>
            </a:r>
            <a:endParaRPr lang="en-GB" dirty="0"/>
          </a:p>
          <a:p>
            <a:r>
              <a:rPr lang="en-GB" dirty="0"/>
              <a:t>In </a:t>
            </a:r>
            <a:r>
              <a:rPr lang="en-GB" dirty="0" err="1"/>
              <a:t>sensiblen</a:t>
            </a:r>
            <a:r>
              <a:rPr lang="en-GB" dirty="0"/>
              <a:t> </a:t>
            </a:r>
            <a:r>
              <a:rPr lang="en-GB" dirty="0" err="1"/>
              <a:t>Domänen</a:t>
            </a:r>
            <a:r>
              <a:rPr lang="en-GB" dirty="0"/>
              <a:t> </a:t>
            </a:r>
            <a:r>
              <a:rPr lang="en-GB" dirty="0" err="1"/>
              <a:t>ist</a:t>
            </a:r>
            <a:r>
              <a:rPr lang="en-GB" dirty="0"/>
              <a:t> </a:t>
            </a:r>
            <a:r>
              <a:rPr lang="en-GB" b="1" dirty="0" err="1"/>
              <a:t>verlässliche</a:t>
            </a:r>
            <a:r>
              <a:rPr lang="en-GB" b="1" dirty="0"/>
              <a:t> </a:t>
            </a:r>
            <a:r>
              <a:rPr lang="en-GB" b="1" dirty="0" err="1"/>
              <a:t>Unsicherheitsabschätzung</a:t>
            </a:r>
            <a:r>
              <a:rPr lang="en-GB" dirty="0"/>
              <a:t> </a:t>
            </a:r>
            <a:r>
              <a:rPr lang="en-GB" dirty="0" err="1"/>
              <a:t>entscheidend</a:t>
            </a:r>
            <a:endParaRPr lang="en-GB" dirty="0"/>
          </a:p>
          <a:p>
            <a:r>
              <a:rPr lang="en-GB" b="1" dirty="0"/>
              <a:t>Human-in-the-Loop</a:t>
            </a:r>
            <a:r>
              <a:rPr lang="en-GB" dirty="0"/>
              <a:t> </a:t>
            </a:r>
            <a:r>
              <a:rPr lang="en-GB" dirty="0" err="1"/>
              <a:t>benötigt</a:t>
            </a:r>
            <a:r>
              <a:rPr lang="en-GB" dirty="0"/>
              <a:t> </a:t>
            </a:r>
            <a:r>
              <a:rPr lang="en-GB" dirty="0" err="1"/>
              <a:t>klare</a:t>
            </a:r>
            <a:r>
              <a:rPr lang="en-GB" dirty="0"/>
              <a:t> </a:t>
            </a:r>
            <a:r>
              <a:rPr lang="en-GB" dirty="0" err="1"/>
              <a:t>Signale</a:t>
            </a:r>
            <a:r>
              <a:rPr lang="en-GB" dirty="0"/>
              <a:t>, </a:t>
            </a:r>
            <a:r>
              <a:rPr lang="en-GB" dirty="0" err="1"/>
              <a:t>wann</a:t>
            </a:r>
            <a:r>
              <a:rPr lang="en-GB" dirty="0"/>
              <a:t> Modelle </a:t>
            </a:r>
            <a:r>
              <a:rPr lang="en-GB" dirty="0" err="1"/>
              <a:t>unsicher</a:t>
            </a:r>
            <a:r>
              <a:rPr lang="en-GB" dirty="0"/>
              <a:t> </a:t>
            </a:r>
            <a:r>
              <a:rPr lang="en-GB" dirty="0" err="1"/>
              <a:t>sind</a:t>
            </a:r>
            <a:endParaRPr lang="en-GB" dirty="0"/>
          </a:p>
          <a:p>
            <a:r>
              <a:rPr lang="en-GB" b="1" dirty="0"/>
              <a:t>Reasoning-</a:t>
            </a:r>
            <a:r>
              <a:rPr lang="en-GB" b="1" dirty="0" err="1"/>
              <a:t>Strategien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 immer </a:t>
            </a:r>
            <a:r>
              <a:rPr lang="en-GB" dirty="0" err="1"/>
              <a:t>häufiger</a:t>
            </a:r>
            <a:r>
              <a:rPr lang="en-GB" dirty="0"/>
              <a:t> </a:t>
            </a:r>
            <a:r>
              <a:rPr lang="en-GB" dirty="0" err="1"/>
              <a:t>genutzt</a:t>
            </a:r>
            <a:r>
              <a:rPr lang="en-GB" dirty="0"/>
              <a:t> → </a:t>
            </a:r>
            <a:r>
              <a:rPr lang="en-GB" dirty="0" err="1"/>
              <a:t>Unsicherheit</a:t>
            </a:r>
            <a:r>
              <a:rPr lang="en-GB" dirty="0"/>
              <a:t> </a:t>
            </a:r>
            <a:r>
              <a:rPr lang="en-GB" dirty="0" err="1"/>
              <a:t>kombiniert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Reasoning </a:t>
            </a:r>
          </a:p>
          <a:p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37C24-9236-5459-6959-72D918FB7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FB5BF1-C550-F964-6DF7-A5F2C5605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91252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59194-2543-63AE-4177-E577E5409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ADC46-DAC6-2887-E093-61B22763C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Problemstellung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5941C-9EC0-5ADD-F921-1A0498E5A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Bestehende</a:t>
            </a:r>
            <a:r>
              <a:rPr lang="en-GB" dirty="0"/>
              <a:t> </a:t>
            </a:r>
            <a:r>
              <a:rPr lang="en-GB" dirty="0" err="1"/>
              <a:t>Ansätze</a:t>
            </a:r>
            <a:r>
              <a:rPr lang="en-GB" dirty="0"/>
              <a:t> oft </a:t>
            </a:r>
            <a:r>
              <a:rPr lang="en-GB" dirty="0" err="1"/>
              <a:t>nur</a:t>
            </a:r>
            <a:r>
              <a:rPr lang="en-GB" dirty="0"/>
              <a:t>:</a:t>
            </a:r>
          </a:p>
          <a:p>
            <a:pPr lvl="1"/>
            <a:r>
              <a:rPr lang="en-GB" b="1" dirty="0"/>
              <a:t>Final-Answer-Only</a:t>
            </a:r>
            <a:r>
              <a:rPr lang="en-GB" dirty="0"/>
              <a:t> </a:t>
            </a:r>
          </a:p>
          <a:p>
            <a:pPr lvl="1"/>
            <a:r>
              <a:rPr lang="en-GB" b="1" dirty="0" err="1"/>
              <a:t>Semantische</a:t>
            </a:r>
            <a:r>
              <a:rPr lang="en-GB" b="1" dirty="0"/>
              <a:t> </a:t>
            </a:r>
            <a:r>
              <a:rPr lang="en-GB" b="1" dirty="0" err="1"/>
              <a:t>Unterschiede</a:t>
            </a:r>
            <a:r>
              <a:rPr lang="en-GB" b="1" dirty="0"/>
              <a:t> in Reasoning-Ketten </a:t>
            </a:r>
            <a:r>
              <a:rPr lang="en-GB" b="1" dirty="0" err="1"/>
              <a:t>bleiben</a:t>
            </a:r>
            <a:r>
              <a:rPr lang="en-GB" b="1" dirty="0"/>
              <a:t> </a:t>
            </a:r>
            <a:r>
              <a:rPr lang="en-GB" b="1" dirty="0" err="1"/>
              <a:t>ungenutzt</a:t>
            </a:r>
            <a:endParaRPr lang="en-GB" b="1" dirty="0"/>
          </a:p>
          <a:p>
            <a:pPr lvl="1"/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Ziel: </a:t>
            </a:r>
            <a:r>
              <a:rPr lang="en-GB" b="1" dirty="0" err="1"/>
              <a:t>Antwort</a:t>
            </a:r>
            <a:r>
              <a:rPr lang="en-GB" b="1" dirty="0"/>
              <a:t>-Level </a:t>
            </a:r>
            <a:r>
              <a:rPr lang="en-GB" b="1" dirty="0" err="1"/>
              <a:t>Unsicherheit</a:t>
            </a:r>
            <a:r>
              <a:rPr lang="en-GB" b="1" dirty="0"/>
              <a:t> </a:t>
            </a:r>
            <a:r>
              <a:rPr lang="en-GB" b="1" dirty="0" err="1"/>
              <a:t>unter</a:t>
            </a:r>
            <a:r>
              <a:rPr lang="en-GB" b="1" dirty="0"/>
              <a:t> </a:t>
            </a:r>
            <a:r>
              <a:rPr lang="en-GB" b="1" dirty="0" err="1"/>
              <a:t>Einbezug</a:t>
            </a:r>
            <a:r>
              <a:rPr lang="en-GB" b="1" dirty="0"/>
              <a:t> von Reasoning-</a:t>
            </a:r>
            <a:r>
              <a:rPr lang="en-GB" b="1" dirty="0" err="1"/>
              <a:t>Strategien</a:t>
            </a:r>
            <a:endParaRPr lang="en-GB" dirty="0"/>
          </a:p>
          <a:p>
            <a:pPr marL="0" indent="0">
              <a:buNone/>
            </a:pP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0D8DB-0B91-71B2-6817-03ED07921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9B3A3B-B496-0C47-4477-2B70B14C8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22732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4E0C2D-E2E8-CB42-81EC-FC6D70656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7106" y="2521967"/>
            <a:ext cx="3491999" cy="3786757"/>
          </a:xfrm>
          <a:solidFill>
            <a:schemeClr val="tx1">
              <a:lumMod val="10000"/>
              <a:lumOff val="90000"/>
            </a:schemeClr>
          </a:solidFill>
          <a:effectLst>
            <a:softEdge rad="25400"/>
          </a:effectLst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GB" sz="1800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9C9C871-A2D8-804F-5F06-243E80375D8F}"/>
              </a:ext>
            </a:extLst>
          </p:cNvPr>
          <p:cNvSpPr/>
          <p:nvPr/>
        </p:nvSpPr>
        <p:spPr>
          <a:xfrm>
            <a:off x="935181" y="2603438"/>
            <a:ext cx="3355848" cy="1499616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F98DD5-54A3-A89D-6F4D-95E5BBAA5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Reasoning-Strategien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60F66-D0BE-D1AF-9431-A743A3173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7105" y="1691148"/>
            <a:ext cx="3492000" cy="831279"/>
          </a:xfrm>
        </p:spPr>
        <p:txBody>
          <a:bodyPr>
            <a:normAutofit/>
          </a:bodyPr>
          <a:lstStyle/>
          <a:p>
            <a:r>
              <a:rPr lang="en-CH" dirty="0"/>
              <a:t>Chain-of-Thought (CoT)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57DAA7-9A1A-3177-F71C-AA5FB8B762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359106" y="1690688"/>
            <a:ext cx="3492000" cy="831279"/>
          </a:xfrm>
        </p:spPr>
        <p:txBody>
          <a:bodyPr>
            <a:normAutofit/>
          </a:bodyPr>
          <a:lstStyle/>
          <a:p>
            <a:r>
              <a:rPr lang="en-CH" dirty="0"/>
              <a:t>Chain-of-Draft       (CoD)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905B84-0AF9-3D13-1AF5-FC5750BA22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59107" y="2521967"/>
            <a:ext cx="3491999" cy="3786757"/>
          </a:xfrm>
          <a:solidFill>
            <a:schemeClr val="tx1">
              <a:lumMod val="10000"/>
              <a:lumOff val="90000"/>
            </a:schemeClr>
          </a:solidFill>
          <a:effectLst>
            <a:softEdge rad="25400"/>
          </a:effectLst>
        </p:spPr>
        <p:txBody>
          <a:bodyPr>
            <a:normAutofit/>
          </a:bodyPr>
          <a:lstStyle/>
          <a:p>
            <a:pPr marL="0" indent="0">
              <a:buNone/>
            </a:pPr>
            <a:endParaRPr lang="en-CH" sz="18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77353F-3806-0387-E45A-465EFA2D5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1FD26D9-7388-EB23-2C29-9C73A3773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5</a:t>
            </a:fld>
            <a:endParaRPr lang="en-CH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6DB6A255-20D9-F808-2F4D-24E4129E395C}"/>
              </a:ext>
            </a:extLst>
          </p:cNvPr>
          <p:cNvSpPr txBox="1">
            <a:spLocks/>
          </p:cNvSpPr>
          <p:nvPr/>
        </p:nvSpPr>
        <p:spPr>
          <a:xfrm>
            <a:off x="7860212" y="1689814"/>
            <a:ext cx="3492000" cy="8312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H" dirty="0"/>
              <a:t>Tree-of-Thought     (ToT)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52407036-603C-3614-640F-AECB9C394EFC}"/>
              </a:ext>
            </a:extLst>
          </p:cNvPr>
          <p:cNvSpPr txBox="1">
            <a:spLocks/>
          </p:cNvSpPr>
          <p:nvPr/>
        </p:nvSpPr>
        <p:spPr>
          <a:xfrm>
            <a:off x="7851107" y="2521093"/>
            <a:ext cx="3501106" cy="377784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effectLst>
            <a:softEdge rad="25400"/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CH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FDE596-F49E-95AD-2FAD-81B72ED6CDE5}"/>
              </a:ext>
            </a:extLst>
          </p:cNvPr>
          <p:cNvSpPr txBox="1"/>
          <p:nvPr/>
        </p:nvSpPr>
        <p:spPr>
          <a:xfrm>
            <a:off x="1241002" y="2602978"/>
            <a:ext cx="31181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Let's think step by step.</a:t>
            </a:r>
          </a:p>
          <a:p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Step 1 … · Step 2 …  Final Answer 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0BEC11-75A0-A18F-4463-017D508F8A2F}"/>
              </a:ext>
            </a:extLst>
          </p:cNvPr>
          <p:cNvSpPr txBox="1"/>
          <p:nvPr/>
        </p:nvSpPr>
        <p:spPr>
          <a:xfrm>
            <a:off x="8455127" y="7002947"/>
            <a:ext cx="22930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Accuracy ↑   </a:t>
            </a:r>
          </a:p>
          <a:p>
            <a:r>
              <a:rPr lang="en-GB" dirty="0"/>
              <a:t>· Tokens ↑   ·  </a:t>
            </a:r>
          </a:p>
          <a:p>
            <a:r>
              <a:rPr lang="en-GB" dirty="0"/>
              <a:t>   Zero-/Few-Shot ✓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137EBED-1770-E5C5-2799-775C06F6AB8C}"/>
              </a:ext>
            </a:extLst>
          </p:cNvPr>
          <p:cNvSpPr/>
          <p:nvPr/>
        </p:nvSpPr>
        <p:spPr>
          <a:xfrm>
            <a:off x="4427180" y="2614168"/>
            <a:ext cx="3355848" cy="149961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B63C15-3DE7-D1ED-1FDF-167D705EFE08}"/>
              </a:ext>
            </a:extLst>
          </p:cNvPr>
          <p:cNvSpPr txBox="1"/>
          <p:nvPr/>
        </p:nvSpPr>
        <p:spPr>
          <a:xfrm>
            <a:off x="4495257" y="2613708"/>
            <a:ext cx="33558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Think step by step; each step ≤5 words.</a:t>
            </a:r>
          </a:p>
          <a:p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Step 1 … (≤5w) · Step 2 … Final Answer …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101CE8-2825-420B-1B7D-F5AB6E297C8A}"/>
              </a:ext>
            </a:extLst>
          </p:cNvPr>
          <p:cNvSpPr txBox="1"/>
          <p:nvPr/>
        </p:nvSpPr>
        <p:spPr>
          <a:xfrm>
            <a:off x="8004921" y="3059668"/>
            <a:ext cx="1239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>
                <a:latin typeface="Consolas" panose="020B0609020204030204" pitchFamily="49" charset="0"/>
                <a:cs typeface="Consolas" panose="020B0609020204030204" pitchFamily="49" charset="0"/>
              </a:rPr>
              <a:t>Step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FA2A43-2EA2-4825-6F40-A0363B6D460B}"/>
              </a:ext>
            </a:extLst>
          </p:cNvPr>
          <p:cNvSpPr txBox="1"/>
          <p:nvPr/>
        </p:nvSpPr>
        <p:spPr>
          <a:xfrm>
            <a:off x="7987255" y="3598243"/>
            <a:ext cx="1357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>
                <a:latin typeface="Consolas" panose="020B0609020204030204" pitchFamily="49" charset="0"/>
                <a:cs typeface="Consolas" panose="020B0609020204030204" pitchFamily="49" charset="0"/>
              </a:rPr>
              <a:t>Step 2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6ABF31F8-833C-DA12-4027-180107487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1782" y="2597367"/>
            <a:ext cx="2091690" cy="184068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EEBAB9A-6937-C326-FEBA-68F70135AE55}"/>
              </a:ext>
            </a:extLst>
          </p:cNvPr>
          <p:cNvSpPr txBox="1"/>
          <p:nvPr/>
        </p:nvSpPr>
        <p:spPr>
          <a:xfrm>
            <a:off x="8004918" y="4069390"/>
            <a:ext cx="1340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>
                <a:latin typeface="Consolas" panose="020B0609020204030204" pitchFamily="49" charset="0"/>
                <a:cs typeface="Consolas" panose="020B0609020204030204" pitchFamily="49" charset="0"/>
              </a:rPr>
              <a:t>Answer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0D2F37-6075-6A40-6C8B-02EB5D829C32}"/>
              </a:ext>
            </a:extLst>
          </p:cNvPr>
          <p:cNvSpPr txBox="1"/>
          <p:nvPr/>
        </p:nvSpPr>
        <p:spPr>
          <a:xfrm>
            <a:off x="1241002" y="4705186"/>
            <a:ext cx="2967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>
                <a:latin typeface="Segoe UI" panose="020B0502040204020203" pitchFamily="34" charset="0"/>
                <a:cs typeface="Segoe UI" panose="020B0502040204020203" pitchFamily="34" charset="0"/>
              </a:rPr>
              <a:t>🎯 </a:t>
            </a:r>
            <a:r>
              <a:rPr lang="en-GB" i="1" dirty="0">
                <a:latin typeface="Segoe UI" panose="020B0502040204020203" pitchFamily="34" charset="0"/>
                <a:cs typeface="Segoe UI" panose="020B0502040204020203" pitchFamily="34" charset="0"/>
              </a:rPr>
              <a:t>Starker Accuracy-Boost (z. B. +60 pp auf GSM8K)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[Wei et al., 2022]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3799A7-2738-6B8E-97A1-BF417687C4A3}"/>
              </a:ext>
            </a:extLst>
          </p:cNvPr>
          <p:cNvSpPr txBox="1"/>
          <p:nvPr/>
        </p:nvSpPr>
        <p:spPr>
          <a:xfrm>
            <a:off x="4602208" y="4705186"/>
            <a:ext cx="31419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⚡ </a:t>
            </a:r>
            <a:r>
              <a:rPr lang="en-GB" i="1" dirty="0"/>
              <a:t>Bis </a:t>
            </a:r>
            <a:r>
              <a:rPr lang="en-GB" i="1" dirty="0" err="1"/>
              <a:t>zu</a:t>
            </a:r>
            <a:r>
              <a:rPr lang="en-GB" i="1" dirty="0"/>
              <a:t> 80 % Tokens &amp; 70 % </a:t>
            </a:r>
            <a:r>
              <a:rPr lang="en-GB" i="1" dirty="0" err="1"/>
              <a:t>Latenz</a:t>
            </a:r>
            <a:r>
              <a:rPr lang="en-GB" i="1" dirty="0"/>
              <a:t> </a:t>
            </a:r>
            <a:r>
              <a:rPr lang="en-GB" i="1" dirty="0" err="1"/>
              <a:t>gespart</a:t>
            </a:r>
            <a:r>
              <a:rPr lang="en-GB" i="1" dirty="0"/>
              <a:t>, </a:t>
            </a:r>
            <a:r>
              <a:rPr lang="en-GB" i="1" dirty="0" err="1"/>
              <a:t>kaum</a:t>
            </a:r>
            <a:r>
              <a:rPr lang="en-GB" i="1" dirty="0"/>
              <a:t> Accuracy-</a:t>
            </a:r>
            <a:r>
              <a:rPr lang="en-GB" i="1" dirty="0" err="1"/>
              <a:t>Verlust</a:t>
            </a:r>
            <a:r>
              <a:rPr lang="en-GB" dirty="0"/>
              <a:t> [Zhou et al., 2023]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2FD58E-1255-48D0-6CB6-43785EF72B83}"/>
              </a:ext>
            </a:extLst>
          </p:cNvPr>
          <p:cNvSpPr txBox="1"/>
          <p:nvPr/>
        </p:nvSpPr>
        <p:spPr>
          <a:xfrm>
            <a:off x="7887646" y="4607297"/>
            <a:ext cx="34919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🌳 </a:t>
            </a:r>
            <a:r>
              <a:rPr lang="en-GB" i="1" dirty="0"/>
              <a:t>von 4 % (</a:t>
            </a:r>
            <a:r>
              <a:rPr lang="en-GB" i="1" dirty="0" err="1"/>
              <a:t>CoT</a:t>
            </a:r>
            <a:r>
              <a:rPr lang="en-GB" i="1" dirty="0"/>
              <a:t>) → 74 % (</a:t>
            </a:r>
            <a:r>
              <a:rPr lang="en-GB" i="1" dirty="0" err="1"/>
              <a:t>ToT</a:t>
            </a:r>
            <a:r>
              <a:rPr lang="en-GB" i="1" dirty="0"/>
              <a:t>), </a:t>
            </a:r>
            <a:r>
              <a:rPr lang="en-GB" i="1" dirty="0" err="1"/>
              <a:t>bessere</a:t>
            </a:r>
            <a:r>
              <a:rPr lang="en-GB" i="1" dirty="0"/>
              <a:t> Exploration</a:t>
            </a:r>
            <a:r>
              <a:rPr lang="en-GB" dirty="0"/>
              <a:t> [Yao et al., 2024]</a:t>
            </a:r>
          </a:p>
          <a:p>
            <a:r>
              <a:rPr lang="en-GB" dirty="0"/>
              <a:t>⚠️ </a:t>
            </a:r>
            <a:r>
              <a:rPr lang="en-GB" i="1" dirty="0"/>
              <a:t>Nur für </a:t>
            </a:r>
            <a:r>
              <a:rPr lang="en-GB" i="1" dirty="0" err="1"/>
              <a:t>spezielle</a:t>
            </a:r>
            <a:r>
              <a:rPr lang="en-GB" i="1" dirty="0"/>
              <a:t> </a:t>
            </a:r>
            <a:r>
              <a:rPr lang="en-GB" i="1" dirty="0" err="1"/>
              <a:t>Aufgaben</a:t>
            </a:r>
            <a:r>
              <a:rPr lang="en-GB" i="1" dirty="0"/>
              <a:t> (Game of 24), </a:t>
            </a:r>
            <a:r>
              <a:rPr lang="en-GB" i="1" dirty="0" err="1"/>
              <a:t>nicht</a:t>
            </a:r>
            <a:r>
              <a:rPr lang="en-GB" i="1" dirty="0"/>
              <a:t> </a:t>
            </a:r>
            <a:r>
              <a:rPr lang="en-GB" i="1" dirty="0" err="1"/>
              <a:t>generalisierbar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4616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AC92E-EA21-46D2-233B-3D039F49A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Unsicherheitsmetriken</a:t>
            </a:r>
            <a:r>
              <a:rPr lang="en-GB" dirty="0"/>
              <a:t>: Zwei Klassen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95F25-655C-35BA-AC76-73523B470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GB" sz="4500" dirty="0"/>
              <a:t>Self-Evaluation</a:t>
            </a:r>
          </a:p>
          <a:p>
            <a:r>
              <a:rPr lang="en-GB" sz="4500" b="0" dirty="0"/>
              <a:t>Modell </a:t>
            </a:r>
            <a:r>
              <a:rPr lang="en-GB" sz="4500" b="0" dirty="0" err="1"/>
              <a:t>bewertet</a:t>
            </a:r>
            <a:r>
              <a:rPr lang="en-GB" sz="4500" b="0" dirty="0"/>
              <a:t> </a:t>
            </a:r>
            <a:r>
              <a:rPr lang="en-GB" sz="4500" b="0" dirty="0" err="1"/>
              <a:t>eigene</a:t>
            </a:r>
            <a:r>
              <a:rPr lang="en-GB" sz="4500" b="0" dirty="0"/>
              <a:t> </a:t>
            </a:r>
            <a:r>
              <a:rPr lang="en-GB" sz="4500" b="0" dirty="0" err="1"/>
              <a:t>Antwort</a:t>
            </a:r>
            <a:r>
              <a:rPr lang="en-GB" sz="4500" b="0" dirty="0"/>
              <a:t>        (</a:t>
            </a:r>
            <a:r>
              <a:rPr lang="en-GB" sz="4500" b="0" dirty="0" err="1"/>
              <a:t>zusätzlicher</a:t>
            </a:r>
            <a:r>
              <a:rPr lang="en-GB" sz="4500" b="0" dirty="0"/>
              <a:t> Prompt)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73EB1-2276-2A48-EB4D-90A10FD09F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GB" sz="1800" i="1" dirty="0"/>
          </a:p>
          <a:p>
            <a:pPr marL="0" indent="0">
              <a:buNone/>
            </a:pPr>
            <a:r>
              <a:rPr lang="en-GB" sz="1800" b="1" dirty="0"/>
              <a:t>P-True:</a:t>
            </a:r>
            <a:r>
              <a:rPr lang="en-GB" sz="1800" dirty="0"/>
              <a:t> </a:t>
            </a:r>
            <a:r>
              <a:rPr lang="en-GB" sz="1800" dirty="0" err="1"/>
              <a:t>Klassifizierung</a:t>
            </a:r>
            <a:r>
              <a:rPr lang="en-GB" sz="1800" dirty="0"/>
              <a:t> True/False</a:t>
            </a:r>
          </a:p>
          <a:p>
            <a:pPr marL="0" indent="0">
              <a:buNone/>
            </a:pPr>
            <a:endParaRPr lang="en-GB" sz="1800" b="1" dirty="0"/>
          </a:p>
          <a:p>
            <a:pPr marL="0" indent="0">
              <a:buNone/>
            </a:pPr>
            <a:endParaRPr lang="en-GB" sz="1800" b="1" dirty="0"/>
          </a:p>
          <a:p>
            <a:pPr marL="0" indent="0">
              <a:buNone/>
            </a:pPr>
            <a:endParaRPr lang="en-GB" sz="1800" b="1" dirty="0"/>
          </a:p>
          <a:p>
            <a:pPr marL="0" indent="0">
              <a:buNone/>
            </a:pPr>
            <a:endParaRPr lang="en-GB" sz="1800" b="1" dirty="0"/>
          </a:p>
          <a:p>
            <a:pPr marL="0" indent="0">
              <a:buNone/>
            </a:pPr>
            <a:r>
              <a:rPr lang="en-GB" sz="1800" b="1" dirty="0"/>
              <a:t>Self-Probing:</a:t>
            </a:r>
            <a:r>
              <a:rPr lang="en-GB" sz="1800" dirty="0"/>
              <a:t> </a:t>
            </a:r>
          </a:p>
          <a:p>
            <a:pPr marL="0" indent="0">
              <a:buNone/>
            </a:pPr>
            <a:r>
              <a:rPr lang="en-GB" sz="1800" dirty="0"/>
              <a:t>Modell </a:t>
            </a:r>
            <a:r>
              <a:rPr lang="en-GB" sz="1800" dirty="0" err="1"/>
              <a:t>gibt</a:t>
            </a:r>
            <a:r>
              <a:rPr lang="en-GB" sz="1800" dirty="0"/>
              <a:t> Confidence </a:t>
            </a:r>
            <a:r>
              <a:rPr lang="en-GB" sz="1800" dirty="0" err="1"/>
              <a:t>direkt</a:t>
            </a:r>
            <a:r>
              <a:rPr lang="en-GB" sz="1800" dirty="0"/>
              <a:t> </a:t>
            </a:r>
            <a:r>
              <a:rPr lang="en-GB" sz="1800" dirty="0" err="1"/>
              <a:t>aus</a:t>
            </a:r>
            <a:endParaRPr lang="en-GB" sz="1800" dirty="0"/>
          </a:p>
          <a:p>
            <a:endParaRPr lang="en-CH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819819-B071-B016-1663-B638EE2C62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539370"/>
            <a:ext cx="5183188" cy="823912"/>
          </a:xfrm>
        </p:spPr>
        <p:txBody>
          <a:bodyPr>
            <a:noAutofit/>
          </a:bodyPr>
          <a:lstStyle/>
          <a:p>
            <a:r>
              <a:rPr lang="en-GB" sz="1800" dirty="0" err="1"/>
              <a:t>Aggregationsmetriken</a:t>
            </a:r>
            <a:endParaRPr lang="en-GB" sz="1800" dirty="0"/>
          </a:p>
          <a:p>
            <a:r>
              <a:rPr lang="en-GB" sz="1800" b="0" dirty="0" err="1"/>
              <a:t>Verdichtung</a:t>
            </a:r>
            <a:r>
              <a:rPr lang="en-GB" sz="1800" b="0" dirty="0"/>
              <a:t> der Token-</a:t>
            </a:r>
            <a:r>
              <a:rPr lang="en-GB" sz="1800" b="0" dirty="0" err="1"/>
              <a:t>Wahrscheinlichkeiten</a:t>
            </a:r>
            <a:endParaRPr lang="en-GB" sz="1800" b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8B90F1-014A-ACD3-3489-BE4F9841297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GB" sz="1800" dirty="0"/>
          </a:p>
          <a:p>
            <a:pPr marL="0" indent="0">
              <a:buNone/>
            </a:pPr>
            <a:r>
              <a:rPr lang="en-GB" sz="1800" b="1" dirty="0" err="1"/>
              <a:t>Probas</a:t>
            </a:r>
            <a:r>
              <a:rPr lang="en-GB" sz="1800" b="1" dirty="0"/>
              <a:t>-Mean:</a:t>
            </a:r>
            <a:r>
              <a:rPr lang="en-GB" sz="1800" dirty="0"/>
              <a:t> 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b="1" dirty="0" err="1"/>
              <a:t>Probas</a:t>
            </a:r>
            <a:r>
              <a:rPr lang="en-GB" sz="1800" b="1" dirty="0"/>
              <a:t>-Min:</a:t>
            </a:r>
            <a:r>
              <a:rPr lang="en-GB" sz="1800" dirty="0"/>
              <a:t> 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b="1" dirty="0"/>
              <a:t>Token-SAR:</a:t>
            </a:r>
            <a:r>
              <a:rPr lang="en-GB" sz="1800" dirty="0"/>
              <a:t> </a:t>
            </a:r>
          </a:p>
          <a:p>
            <a:pPr marL="0" indent="0">
              <a:buNone/>
            </a:pPr>
            <a:endParaRPr lang="en-GB" sz="1800" dirty="0"/>
          </a:p>
          <a:p>
            <a:endParaRPr lang="en-CH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236CC6-D531-02E7-6C70-1152DBF93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A5518D2-A46A-8525-BEA0-96D7FBF31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6</a:t>
            </a:fld>
            <a:endParaRPr lang="en-C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D82657-C0C1-2739-3179-D43A13522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052" y="3501232"/>
            <a:ext cx="4284694" cy="11019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E53785-A1D5-08B5-43C6-F8EE632A2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364" y="5599334"/>
            <a:ext cx="921264" cy="3298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D313A9-DFD6-A669-0F7A-6223AED48A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2922" y="3468680"/>
            <a:ext cx="1613434" cy="6828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649FB43-72A2-31E4-32E7-CB33EF18FB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2713" y="2654293"/>
            <a:ext cx="1375772" cy="7961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4B1945-A74D-F029-E596-60FEAE917A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0528" y="4141274"/>
            <a:ext cx="1540143" cy="779578"/>
          </a:xfrm>
          <a:prstGeom prst="rect">
            <a:avLst/>
          </a:pr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B528C48-F45D-B3F3-7F23-3D78FAEB4081}"/>
              </a:ext>
            </a:extLst>
          </p:cNvPr>
          <p:cNvSpPr/>
          <p:nvPr/>
        </p:nvSpPr>
        <p:spPr>
          <a:xfrm>
            <a:off x="6096000" y="5301662"/>
            <a:ext cx="3473970" cy="100706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B17F97-7084-E752-D590-2470F1B06760}"/>
              </a:ext>
            </a:extLst>
          </p:cNvPr>
          <p:cNvSpPr txBox="1"/>
          <p:nvPr/>
        </p:nvSpPr>
        <p:spPr>
          <a:xfrm>
            <a:off x="6197238" y="5316484"/>
            <a:ext cx="34739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Notation:</a:t>
            </a:r>
            <a:endParaRPr lang="en-GB" sz="1400" dirty="0"/>
          </a:p>
          <a:p>
            <a:r>
              <a:rPr lang="en-GB" sz="1400" dirty="0"/>
              <a:t>    = </a:t>
            </a:r>
            <a:r>
              <a:rPr lang="en-GB" sz="1400" dirty="0" err="1"/>
              <a:t>Wahrscheinlichkeit</a:t>
            </a:r>
            <a:r>
              <a:rPr lang="en-GB" sz="1400" dirty="0"/>
              <a:t> für Token t</a:t>
            </a:r>
          </a:p>
          <a:p>
            <a:r>
              <a:rPr lang="en-GB" sz="1400" dirty="0"/>
              <a:t>    = Token an Position t</a:t>
            </a:r>
          </a:p>
          <a:p>
            <a:r>
              <a:rPr lang="en-GB" sz="1400" dirty="0"/>
              <a:t>    = </a:t>
            </a:r>
            <a:r>
              <a:rPr lang="en-GB" sz="1400" dirty="0" err="1"/>
              <a:t>Wichtigkeitsgewicht</a:t>
            </a:r>
            <a:r>
              <a:rPr lang="en-GB" sz="1400" dirty="0"/>
              <a:t> (</a:t>
            </a:r>
            <a:r>
              <a:rPr lang="en-GB" sz="1400" dirty="0" err="1"/>
              <a:t>aus</a:t>
            </a:r>
            <a:r>
              <a:rPr lang="en-GB" sz="1400" dirty="0"/>
              <a:t> Cross-Encoder)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08FEEA5-CD22-5CF1-5B25-6232FC06A5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5845" y="5984639"/>
            <a:ext cx="178298" cy="2173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0BB9D84-E416-DC4D-5EF6-B0439FDD63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7238" y="5527119"/>
            <a:ext cx="211724" cy="24033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E1597CB-DFC1-A76F-69B2-391C764A323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1057" y="5769963"/>
            <a:ext cx="175267" cy="19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747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C40DAAB8-AA85-B9E0-6CA5-62603C78FCD5}"/>
              </a:ext>
            </a:extLst>
          </p:cNvPr>
          <p:cNvSpPr/>
          <p:nvPr/>
        </p:nvSpPr>
        <p:spPr>
          <a:xfrm>
            <a:off x="174327" y="4346333"/>
            <a:ext cx="346660" cy="35399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ABE0248-FE10-984B-D5A4-720C1FD8D384}"/>
              </a:ext>
            </a:extLst>
          </p:cNvPr>
          <p:cNvSpPr/>
          <p:nvPr/>
        </p:nvSpPr>
        <p:spPr>
          <a:xfrm>
            <a:off x="682262" y="1500027"/>
            <a:ext cx="10827476" cy="1760302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7E3C6A-0C75-5E5B-C720-76D95ACC3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 </a:t>
            </a:r>
            <a:r>
              <a:rPr lang="en-GB" dirty="0" err="1"/>
              <a:t>Varianten</a:t>
            </a:r>
            <a:r>
              <a:rPr lang="en-GB" dirty="0"/>
              <a:t>: Keywords &amp; </a:t>
            </a:r>
            <a:r>
              <a:rPr lang="en-GB" dirty="0" err="1"/>
              <a:t>Gewichte</a:t>
            </a:r>
            <a:endParaRPr lang="en-C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C9852-6470-42CC-AE91-A12FAE1F5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821" y="3473585"/>
            <a:ext cx="5157787" cy="451200"/>
          </a:xfrm>
        </p:spPr>
        <p:txBody>
          <a:bodyPr/>
          <a:lstStyle/>
          <a:p>
            <a:r>
              <a:rPr lang="en-GB" dirty="0"/>
              <a:t>Self-Eval-</a:t>
            </a:r>
            <a:r>
              <a:rPr lang="en-GB" dirty="0" err="1"/>
              <a:t>Kontexte</a:t>
            </a:r>
            <a:r>
              <a:rPr lang="en-GB" dirty="0"/>
              <a:t>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DD3A25-F448-F59A-0C8D-D9914B035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262" y="3924785"/>
            <a:ext cx="5081676" cy="25680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/>
              <a:t>Baseline:</a:t>
            </a:r>
            <a:r>
              <a:rPr lang="en-GB" sz="2000" dirty="0"/>
              <a:t> </a:t>
            </a:r>
            <a:r>
              <a:rPr lang="en-GB" sz="2000" dirty="0" err="1"/>
              <a:t>nur</a:t>
            </a:r>
            <a:r>
              <a:rPr lang="en-GB" sz="2000" dirty="0"/>
              <a:t> Final Answer</a:t>
            </a:r>
          </a:p>
          <a:p>
            <a:pPr marL="0" indent="0">
              <a:buNone/>
            </a:pPr>
            <a:r>
              <a:rPr lang="en-GB" sz="2000" b="1" dirty="0" err="1"/>
              <a:t>Allsteps</a:t>
            </a:r>
            <a:r>
              <a:rPr lang="en-GB" sz="2000" b="1" dirty="0"/>
              <a:t>:</a:t>
            </a:r>
            <a:r>
              <a:rPr lang="en-GB" sz="2000" dirty="0"/>
              <a:t> </a:t>
            </a:r>
            <a:r>
              <a:rPr lang="en-GB" sz="2000" dirty="0" err="1"/>
              <a:t>gesamte</a:t>
            </a:r>
            <a:r>
              <a:rPr lang="en-GB" sz="2000" dirty="0"/>
              <a:t> Reasoning-Kette</a:t>
            </a:r>
          </a:p>
          <a:p>
            <a:pPr marL="0" indent="0">
              <a:buNone/>
            </a:pPr>
            <a:r>
              <a:rPr lang="en-GB" sz="2000" b="1" dirty="0" err="1"/>
              <a:t>Keystep</a:t>
            </a:r>
            <a:r>
              <a:rPr lang="en-GB" sz="2000" b="1" dirty="0"/>
              <a:t>:</a:t>
            </a:r>
            <a:r>
              <a:rPr lang="en-GB" sz="2000" dirty="0"/>
              <a:t> </a:t>
            </a:r>
            <a:r>
              <a:rPr lang="en-GB" sz="2000" dirty="0" err="1"/>
              <a:t>nur</a:t>
            </a:r>
            <a:r>
              <a:rPr lang="en-GB" sz="2000" dirty="0"/>
              <a:t> der </a:t>
            </a:r>
            <a:r>
              <a:rPr lang="en-GB" sz="2000" dirty="0" err="1"/>
              <a:t>wichtigste</a:t>
            </a:r>
            <a:r>
              <a:rPr lang="en-GB" sz="2000" dirty="0"/>
              <a:t> Schritt</a:t>
            </a:r>
          </a:p>
          <a:p>
            <a:pPr marL="0" indent="0">
              <a:buNone/>
            </a:pPr>
            <a:r>
              <a:rPr lang="en-GB" sz="2000" b="1" dirty="0" err="1"/>
              <a:t>Allkeywords</a:t>
            </a:r>
            <a:r>
              <a:rPr lang="en-GB" sz="2000" b="1" dirty="0"/>
              <a:t>:</a:t>
            </a:r>
            <a:r>
              <a:rPr lang="en-GB" sz="2000" dirty="0"/>
              <a:t> alle Keywords</a:t>
            </a:r>
          </a:p>
          <a:p>
            <a:pPr marL="0" indent="0">
              <a:buNone/>
            </a:pPr>
            <a:r>
              <a:rPr lang="en-GB" sz="2000" b="1" dirty="0" err="1"/>
              <a:t>Keykeywords</a:t>
            </a:r>
            <a:r>
              <a:rPr lang="en-GB" sz="2000" b="1" dirty="0"/>
              <a:t>:</a:t>
            </a:r>
            <a:r>
              <a:rPr lang="en-GB" sz="2000" dirty="0"/>
              <a:t> </a:t>
            </a:r>
            <a:r>
              <a:rPr lang="en-GB" sz="2000" dirty="0" err="1"/>
              <a:t>nur</a:t>
            </a:r>
            <a:r>
              <a:rPr lang="en-GB" sz="2000" dirty="0"/>
              <a:t> Keywords </a:t>
            </a:r>
            <a:r>
              <a:rPr lang="en-GB" sz="2000" dirty="0" err="1"/>
              <a:t>mit</a:t>
            </a:r>
            <a:r>
              <a:rPr lang="en-GB" sz="2000" dirty="0"/>
              <a:t> </a:t>
            </a:r>
            <a:r>
              <a:rPr lang="en-GB" sz="2000" dirty="0" err="1"/>
              <a:t>hohem</a:t>
            </a:r>
            <a:r>
              <a:rPr lang="en-GB" sz="2000" dirty="0"/>
              <a:t> </a:t>
            </a:r>
            <a:r>
              <a:rPr lang="en-GB" sz="2000" dirty="0" err="1"/>
              <a:t>Gewicht</a:t>
            </a:r>
            <a:endParaRPr lang="en-GB" sz="2000" dirty="0"/>
          </a:p>
          <a:p>
            <a:endParaRPr lang="en-CH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79B4FF-01C0-A845-8186-27CD6B1215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33685" y="3471213"/>
            <a:ext cx="5183188" cy="457297"/>
          </a:xfrm>
        </p:spPr>
        <p:txBody>
          <a:bodyPr/>
          <a:lstStyle/>
          <a:p>
            <a:r>
              <a:rPr lang="en-GB" dirty="0"/>
              <a:t>Aggregation-</a:t>
            </a:r>
            <a:r>
              <a:rPr lang="en-GB" dirty="0" err="1"/>
              <a:t>Varianten</a:t>
            </a:r>
            <a:r>
              <a:rPr lang="en-GB" dirty="0"/>
              <a:t>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D2BB17-41E3-E7AA-A385-4D151C86B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611" y="4115079"/>
            <a:ext cx="5613401" cy="24736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/>
              <a:t>Baseline:</a:t>
            </a:r>
            <a:r>
              <a:rPr lang="en-GB" sz="2000" dirty="0"/>
              <a:t> </a:t>
            </a:r>
            <a:r>
              <a:rPr lang="en-GB" sz="2000" dirty="0" err="1"/>
              <a:t>nur</a:t>
            </a:r>
            <a:r>
              <a:rPr lang="en-GB" sz="2000" dirty="0"/>
              <a:t> Final Answer Tokens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b="1" dirty="0"/>
              <a:t>Keywords:</a:t>
            </a:r>
            <a:r>
              <a:rPr lang="en-GB" sz="2000" dirty="0"/>
              <a:t> </a:t>
            </a:r>
            <a:r>
              <a:rPr lang="en-GB" sz="2000" dirty="0" err="1"/>
              <a:t>nur</a:t>
            </a:r>
            <a:r>
              <a:rPr lang="en-GB" sz="2000" dirty="0"/>
              <a:t> Keyword-Tokens </a:t>
            </a:r>
            <a:r>
              <a:rPr lang="en-GB" sz="2000" dirty="0" err="1"/>
              <a:t>mit</a:t>
            </a:r>
            <a:r>
              <a:rPr lang="en-GB" sz="2000" dirty="0"/>
              <a:t> Importance-</a:t>
            </a:r>
            <a:r>
              <a:rPr lang="en-GB" sz="2000" dirty="0" err="1"/>
              <a:t>Gewicht</a:t>
            </a:r>
            <a:endParaRPr lang="en-GB" sz="20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511C8A-491C-BB3D-0BF2-97D842EA2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FC3D6F1-B95E-BB91-29B7-5FD8AEE9C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7</a:t>
            </a:fld>
            <a:endParaRPr lang="en-C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A5551-20F5-DAA6-BD0F-1E554499976C}"/>
              </a:ext>
            </a:extLst>
          </p:cNvPr>
          <p:cNvSpPr txBox="1"/>
          <p:nvPr/>
        </p:nvSpPr>
        <p:spPr>
          <a:xfrm>
            <a:off x="836612" y="1524342"/>
            <a:ext cx="10594146" cy="1760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Step 1: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Identify the price without discount. The price of a pack of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dvds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is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76 (7)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dollars.</a:t>
            </a:r>
          </a:p>
          <a:p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Step 2: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Determine the discount amount. It is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25 (3)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dollars.</a:t>
            </a:r>
          </a:p>
          <a:p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Step 3: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Compute the final price. Subtract the discount from the original price to get 76 – 25 =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51 (10)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dollars.</a:t>
            </a:r>
          </a:p>
          <a:p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Final Answer: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51</a:t>
            </a:r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F138949-E16D-A392-1FD8-4A7FE375C888}"/>
              </a:ext>
            </a:extLst>
          </p:cNvPr>
          <p:cNvSpPr/>
          <p:nvPr/>
        </p:nvSpPr>
        <p:spPr>
          <a:xfrm>
            <a:off x="2615785" y="2973292"/>
            <a:ext cx="395930" cy="287037"/>
          </a:xfrm>
          <a:prstGeom prst="roundRect">
            <a:avLst/>
          </a:prstGeom>
          <a:solidFill>
            <a:schemeClr val="bg1">
              <a:alpha val="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8CD9E96-A129-02E2-AE14-7B71B7D9807A}"/>
              </a:ext>
            </a:extLst>
          </p:cNvPr>
          <p:cNvSpPr/>
          <p:nvPr/>
        </p:nvSpPr>
        <p:spPr>
          <a:xfrm>
            <a:off x="10400226" y="1524342"/>
            <a:ext cx="832208" cy="349787"/>
          </a:xfrm>
          <a:prstGeom prst="roundRect">
            <a:avLst/>
          </a:prstGeom>
          <a:solidFill>
            <a:schemeClr val="bg1">
              <a:alpha val="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0E74246-AE1E-6196-4100-252722B9259E}"/>
              </a:ext>
            </a:extLst>
          </p:cNvPr>
          <p:cNvSpPr/>
          <p:nvPr/>
        </p:nvSpPr>
        <p:spPr>
          <a:xfrm>
            <a:off x="6503542" y="2087326"/>
            <a:ext cx="873303" cy="342567"/>
          </a:xfrm>
          <a:prstGeom prst="roundRect">
            <a:avLst/>
          </a:prstGeom>
          <a:solidFill>
            <a:schemeClr val="bg1">
              <a:alpha val="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736219E-A66B-1E23-35EA-F8A5B39DB93B}"/>
              </a:ext>
            </a:extLst>
          </p:cNvPr>
          <p:cNvSpPr/>
          <p:nvPr/>
        </p:nvSpPr>
        <p:spPr>
          <a:xfrm>
            <a:off x="2615784" y="2654306"/>
            <a:ext cx="965616" cy="306861"/>
          </a:xfrm>
          <a:prstGeom prst="roundRect">
            <a:avLst/>
          </a:prstGeom>
          <a:solidFill>
            <a:schemeClr val="bg1">
              <a:alpha val="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19B9C09-BA2E-2292-7C1B-0BCF9C2ECBD1}"/>
              </a:ext>
            </a:extLst>
          </p:cNvPr>
          <p:cNvSpPr/>
          <p:nvPr/>
        </p:nvSpPr>
        <p:spPr>
          <a:xfrm>
            <a:off x="5823951" y="4928134"/>
            <a:ext cx="346660" cy="35399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1BC2BB2-D000-9B66-091E-CA641AB07209}"/>
              </a:ext>
            </a:extLst>
          </p:cNvPr>
          <p:cNvSpPr/>
          <p:nvPr/>
        </p:nvSpPr>
        <p:spPr>
          <a:xfrm>
            <a:off x="5823951" y="4126170"/>
            <a:ext cx="346660" cy="35399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3CC59AD-BCDB-58BF-24A1-D92D1981E424}"/>
              </a:ext>
            </a:extLst>
          </p:cNvPr>
          <p:cNvSpPr/>
          <p:nvPr/>
        </p:nvSpPr>
        <p:spPr>
          <a:xfrm>
            <a:off x="350526" y="3924784"/>
            <a:ext cx="346131" cy="35399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5FED03F-90EC-39D0-041D-DE4EA1B4304C}"/>
              </a:ext>
            </a:extLst>
          </p:cNvPr>
          <p:cNvSpPr/>
          <p:nvPr/>
        </p:nvSpPr>
        <p:spPr>
          <a:xfrm>
            <a:off x="347657" y="4346334"/>
            <a:ext cx="346660" cy="35399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24" name="Graphic 23" descr="Add with solid fill">
            <a:extLst>
              <a:ext uri="{FF2B5EF4-FFF2-40B4-BE49-F238E27FC236}">
                <a16:creationId xmlns:a16="http://schemas.microsoft.com/office/drawing/2014/main" id="{EC502F4F-47FD-BF92-3104-EF5BF6545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2515" y="4403280"/>
            <a:ext cx="243623" cy="24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37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B7A58-E35F-59D0-4D7B-E8B0DFD36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Qualitätsmasse </a:t>
            </a:r>
            <a:r>
              <a:rPr lang="en-GB" dirty="0" err="1"/>
              <a:t>zur</a:t>
            </a:r>
            <a:r>
              <a:rPr lang="en-GB" dirty="0"/>
              <a:t> Evaluation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69A8D-D117-BD55-51F1-2066FBA37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528" y="1690688"/>
            <a:ext cx="501913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900" b="1" dirty="0" err="1"/>
              <a:t>Diskrimination</a:t>
            </a:r>
            <a:r>
              <a:rPr lang="en-GB" sz="1900" b="1" dirty="0"/>
              <a:t> (AUROC)</a:t>
            </a:r>
            <a:endParaRPr lang="en-GB" sz="1900" dirty="0"/>
          </a:p>
          <a:p>
            <a:r>
              <a:rPr lang="en-GB" sz="1900" dirty="0" err="1"/>
              <a:t>Misst</a:t>
            </a:r>
            <a:r>
              <a:rPr lang="en-GB" sz="1900" dirty="0"/>
              <a:t> </a:t>
            </a:r>
            <a:r>
              <a:rPr lang="en-GB" sz="1900" dirty="0" err="1"/>
              <a:t>Trennschärfe</a:t>
            </a:r>
            <a:r>
              <a:rPr lang="en-GB" sz="1900" dirty="0"/>
              <a:t> </a:t>
            </a:r>
            <a:r>
              <a:rPr lang="en-GB" sz="1900" dirty="0" err="1"/>
              <a:t>zwischen</a:t>
            </a:r>
            <a:r>
              <a:rPr lang="en-GB" sz="1900" dirty="0"/>
              <a:t> </a:t>
            </a:r>
            <a:r>
              <a:rPr lang="en-GB" sz="1900" dirty="0" err="1"/>
              <a:t>korrekten</a:t>
            </a:r>
            <a:r>
              <a:rPr lang="en-GB" sz="1900" dirty="0"/>
              <a:t> und </a:t>
            </a:r>
            <a:r>
              <a:rPr lang="en-GB" sz="1900" dirty="0" err="1"/>
              <a:t>falschen</a:t>
            </a:r>
            <a:r>
              <a:rPr lang="en-GB" sz="1900" dirty="0"/>
              <a:t> </a:t>
            </a:r>
            <a:r>
              <a:rPr lang="en-GB" sz="1900" dirty="0" err="1"/>
              <a:t>Antworten</a:t>
            </a:r>
            <a:endParaRPr lang="en-GB" sz="1900" dirty="0"/>
          </a:p>
          <a:p>
            <a:r>
              <a:rPr lang="en-GB" sz="1900" dirty="0"/>
              <a:t>0.5 = Zufall, 1 = </a:t>
            </a:r>
            <a:r>
              <a:rPr lang="en-GB" sz="1900" dirty="0" err="1"/>
              <a:t>perfekt</a:t>
            </a:r>
            <a:endParaRPr lang="en-CH" sz="1900" dirty="0"/>
          </a:p>
          <a:p>
            <a:pPr marL="0" indent="0">
              <a:buNone/>
            </a:pPr>
            <a:endParaRPr lang="en-GB" sz="1900" b="1" dirty="0"/>
          </a:p>
          <a:p>
            <a:pPr marL="0" indent="0">
              <a:buNone/>
            </a:pPr>
            <a:r>
              <a:rPr lang="en-GB" sz="1900" b="1" dirty="0" err="1"/>
              <a:t>Kalibrierung</a:t>
            </a:r>
            <a:r>
              <a:rPr lang="en-GB" sz="1900" b="1" dirty="0"/>
              <a:t> (ECE)</a:t>
            </a:r>
          </a:p>
          <a:p>
            <a:r>
              <a:rPr lang="en-GB" sz="1900" dirty="0"/>
              <a:t> </a:t>
            </a:r>
          </a:p>
          <a:p>
            <a:r>
              <a:rPr lang="en-GB" sz="1900" dirty="0"/>
              <a:t>Teilt </a:t>
            </a:r>
            <a:r>
              <a:rPr lang="en-GB" sz="1900" dirty="0" err="1"/>
              <a:t>Vorhersagen</a:t>
            </a:r>
            <a:r>
              <a:rPr lang="en-GB" sz="1900" dirty="0"/>
              <a:t> in Confidence-Bins</a:t>
            </a:r>
          </a:p>
          <a:p>
            <a:r>
              <a:rPr lang="en-GB" sz="1900" dirty="0" err="1"/>
              <a:t>Vergleich</a:t>
            </a:r>
            <a:r>
              <a:rPr lang="en-GB" sz="1900" dirty="0"/>
              <a:t>: </a:t>
            </a:r>
            <a:r>
              <a:rPr lang="en-GB" sz="1900" dirty="0" err="1"/>
              <a:t>vorhergesagte</a:t>
            </a:r>
            <a:r>
              <a:rPr lang="en-GB" sz="1900" dirty="0"/>
              <a:t> Confidence vs. </a:t>
            </a:r>
            <a:r>
              <a:rPr lang="en-GB" sz="1900" dirty="0" err="1"/>
              <a:t>tatsächliche</a:t>
            </a:r>
            <a:r>
              <a:rPr lang="en-GB" sz="1900" dirty="0"/>
              <a:t> Accuracy</a:t>
            </a:r>
          </a:p>
          <a:p>
            <a:r>
              <a:rPr lang="en-GB" sz="1900" dirty="0"/>
              <a:t>ECE = </a:t>
            </a:r>
            <a:r>
              <a:rPr lang="en-GB" sz="1900" dirty="0" err="1"/>
              <a:t>mittlere</a:t>
            </a:r>
            <a:r>
              <a:rPr lang="en-GB" sz="1900" dirty="0"/>
              <a:t> </a:t>
            </a:r>
            <a:r>
              <a:rPr lang="en-GB" sz="1900" dirty="0" err="1"/>
              <a:t>Abweichung</a:t>
            </a:r>
            <a:r>
              <a:rPr lang="en-GB" sz="1900" dirty="0"/>
              <a:t> → </a:t>
            </a:r>
            <a:r>
              <a:rPr lang="en-GB" sz="1900" b="1" dirty="0" err="1"/>
              <a:t>kleiner</a:t>
            </a:r>
            <a:r>
              <a:rPr lang="en-GB" sz="1900" b="1" dirty="0"/>
              <a:t> = </a:t>
            </a:r>
            <a:r>
              <a:rPr lang="en-GB" sz="1900" b="1" dirty="0" err="1"/>
              <a:t>besser</a:t>
            </a:r>
            <a:endParaRPr lang="en-GB" sz="19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461FD-0EC4-48DA-A831-C808A63A1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438A6-6105-5342-021B-A114CF2C1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8</a:t>
            </a:fld>
            <a:endParaRPr lang="en-CH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8F73A0-E798-028C-7FBA-4B859C09E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379" y="3794121"/>
            <a:ext cx="4855003" cy="25146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B7558A-F248-F312-F706-5310E8C50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18" y="3808179"/>
            <a:ext cx="1753571" cy="5268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D217DF-B59D-2FF3-E1A0-0B5F5D46C87B}"/>
              </a:ext>
            </a:extLst>
          </p:cNvPr>
          <p:cNvSpPr txBox="1"/>
          <p:nvPr/>
        </p:nvSpPr>
        <p:spPr>
          <a:xfrm>
            <a:off x="6446379" y="3409400"/>
            <a:ext cx="462274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900" b="1" dirty="0">
                <a:latin typeface="Segoe UI" panose="020B0502040204020203" pitchFamily="34" charset="0"/>
                <a:cs typeface="Segoe UI" panose="020B0502040204020203" pitchFamily="34" charset="0"/>
              </a:rPr>
              <a:t>Kalibrations Kurve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D84489-695F-E034-1715-282C6FEF25A4}"/>
              </a:ext>
            </a:extLst>
          </p:cNvPr>
          <p:cNvSpPr txBox="1"/>
          <p:nvPr/>
        </p:nvSpPr>
        <p:spPr>
          <a:xfrm>
            <a:off x="6801492" y="6032573"/>
            <a:ext cx="8938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100" dirty="0">
                <a:latin typeface="Segoe UI" panose="020B0502040204020203" pitchFamily="34" charset="0"/>
                <a:cs typeface="Segoe UI" panose="020B0502040204020203" pitchFamily="34" charset="0"/>
              </a:rPr>
              <a:t>Confidence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2E7FAC-8B74-8045-1F48-688E55935819}"/>
              </a:ext>
            </a:extLst>
          </p:cNvPr>
          <p:cNvSpPr txBox="1"/>
          <p:nvPr/>
        </p:nvSpPr>
        <p:spPr>
          <a:xfrm rot="16200000">
            <a:off x="6130258" y="5307880"/>
            <a:ext cx="8938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100" dirty="0">
                <a:latin typeface="Segoe UI" panose="020B0502040204020203" pitchFamily="34" charset="0"/>
                <a:cs typeface="Segoe UI" panose="020B0502040204020203" pitchFamily="34" charset="0"/>
              </a:rPr>
              <a:t>Accuracy</a:t>
            </a:r>
          </a:p>
        </p:txBody>
      </p:sp>
    </p:spTree>
    <p:extLst>
      <p:ext uri="{BB962C8B-B14F-4D97-AF65-F5344CB8AC3E}">
        <p14:creationId xmlns:p14="http://schemas.microsoft.com/office/powerpoint/2010/main" val="17118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D3285-E8F6-49EA-EA49-419F05C7D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Forschungsfragen</a:t>
            </a:r>
            <a:r>
              <a:rPr lang="en-GB" dirty="0"/>
              <a:t> F1–F4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AE420-2A10-FDF8-31CB-1F7391359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F1:</a:t>
            </a:r>
            <a:r>
              <a:rPr lang="en-GB" dirty="0"/>
              <a:t> </a:t>
            </a:r>
            <a:r>
              <a:rPr lang="en-GB" dirty="0" err="1"/>
              <a:t>Verbessert</a:t>
            </a:r>
            <a:r>
              <a:rPr lang="en-GB" dirty="0"/>
              <a:t> die </a:t>
            </a:r>
            <a:r>
              <a:rPr lang="en-GB" dirty="0" err="1"/>
              <a:t>Nutzung</a:t>
            </a:r>
            <a:r>
              <a:rPr lang="en-GB" dirty="0"/>
              <a:t> von Token-</a:t>
            </a:r>
            <a:r>
              <a:rPr lang="en-GB" dirty="0" err="1"/>
              <a:t>Wahrscheinlichkeiten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der Reasoning-Kette die </a:t>
            </a:r>
            <a:r>
              <a:rPr lang="en-GB" dirty="0" err="1"/>
              <a:t>Qualität</a:t>
            </a:r>
            <a:r>
              <a:rPr lang="en-GB" dirty="0"/>
              <a:t> der </a:t>
            </a:r>
            <a:r>
              <a:rPr lang="en-GB" dirty="0" err="1"/>
              <a:t>Unsicherheitsabschätzung</a:t>
            </a:r>
            <a:r>
              <a:rPr lang="en-GB" dirty="0"/>
              <a:t> </a:t>
            </a:r>
            <a:r>
              <a:rPr lang="en-GB" dirty="0" err="1"/>
              <a:t>gegenüber</a:t>
            </a:r>
            <a:r>
              <a:rPr lang="en-GB" dirty="0"/>
              <a:t> </a:t>
            </a:r>
            <a:r>
              <a:rPr lang="en-GB" dirty="0" err="1"/>
              <a:t>einer</a:t>
            </a:r>
            <a:r>
              <a:rPr lang="en-GB" dirty="0"/>
              <a:t> Baseline, die </a:t>
            </a:r>
            <a:r>
              <a:rPr lang="en-GB" dirty="0" err="1"/>
              <a:t>nur</a:t>
            </a:r>
            <a:r>
              <a:rPr lang="en-GB" dirty="0"/>
              <a:t> finale </a:t>
            </a:r>
            <a:r>
              <a:rPr lang="en-GB" dirty="0" err="1"/>
              <a:t>Antwort</a:t>
            </a:r>
            <a:r>
              <a:rPr lang="en-GB" dirty="0"/>
              <a:t>-Tokens </a:t>
            </a:r>
            <a:r>
              <a:rPr lang="en-GB" dirty="0" err="1"/>
              <a:t>nutzt</a:t>
            </a:r>
            <a:r>
              <a:rPr lang="en-GB" dirty="0"/>
              <a:t>?</a:t>
            </a:r>
          </a:p>
          <a:p>
            <a:endParaRPr lang="en-GB" dirty="0"/>
          </a:p>
          <a:p>
            <a:r>
              <a:rPr lang="en-GB" b="1" dirty="0"/>
              <a:t>F2:</a:t>
            </a:r>
            <a:r>
              <a:rPr lang="en-GB" dirty="0"/>
              <a:t> </a:t>
            </a:r>
            <a:r>
              <a:rPr lang="en-GB" dirty="0" err="1"/>
              <a:t>Verbessert</a:t>
            </a:r>
            <a:r>
              <a:rPr lang="en-GB" dirty="0"/>
              <a:t> </a:t>
            </a:r>
            <a:r>
              <a:rPr lang="en-GB" dirty="0" err="1"/>
              <a:t>zusätzlicher</a:t>
            </a:r>
            <a:r>
              <a:rPr lang="en-GB" dirty="0"/>
              <a:t> Reasoning-</a:t>
            </a:r>
            <a:r>
              <a:rPr lang="en-GB" dirty="0" err="1"/>
              <a:t>Kontext</a:t>
            </a:r>
            <a:r>
              <a:rPr lang="en-GB" dirty="0"/>
              <a:t> die Self-Evaluation?</a:t>
            </a:r>
          </a:p>
          <a:p>
            <a:endParaRPr lang="en-GB" dirty="0"/>
          </a:p>
          <a:p>
            <a:r>
              <a:rPr lang="en-GB" b="1" dirty="0"/>
              <a:t>F3:</a:t>
            </a:r>
            <a:r>
              <a:rPr lang="en-GB" dirty="0"/>
              <a:t> Kann </a:t>
            </a:r>
            <a:r>
              <a:rPr lang="en-GB" dirty="0" err="1"/>
              <a:t>CoD</a:t>
            </a:r>
            <a:r>
              <a:rPr lang="en-GB" dirty="0"/>
              <a:t> die </a:t>
            </a:r>
            <a:r>
              <a:rPr lang="en-GB" dirty="0" err="1"/>
              <a:t>Qualität</a:t>
            </a:r>
            <a:r>
              <a:rPr lang="en-GB" dirty="0"/>
              <a:t> der </a:t>
            </a:r>
            <a:r>
              <a:rPr lang="en-GB" dirty="0" err="1"/>
              <a:t>Unsicherheitsabschätzung</a:t>
            </a:r>
            <a:r>
              <a:rPr lang="en-GB" dirty="0"/>
              <a:t> von </a:t>
            </a:r>
            <a:r>
              <a:rPr lang="en-GB" dirty="0" err="1"/>
              <a:t>CoT</a:t>
            </a:r>
            <a:r>
              <a:rPr lang="en-GB" dirty="0"/>
              <a:t> </a:t>
            </a:r>
            <a:r>
              <a:rPr lang="en-GB" dirty="0" err="1"/>
              <a:t>halten</a:t>
            </a:r>
            <a:r>
              <a:rPr lang="en-GB" dirty="0"/>
              <a:t> – </a:t>
            </a:r>
            <a:r>
              <a:rPr lang="en-GB" dirty="0" err="1"/>
              <a:t>bei</a:t>
            </a:r>
            <a:r>
              <a:rPr lang="en-GB" dirty="0"/>
              <a:t> </a:t>
            </a:r>
            <a:r>
              <a:rPr lang="en-GB" dirty="0" err="1"/>
              <a:t>geringerem</a:t>
            </a:r>
            <a:r>
              <a:rPr lang="en-GB" dirty="0"/>
              <a:t> </a:t>
            </a:r>
            <a:r>
              <a:rPr lang="en-GB" dirty="0" err="1"/>
              <a:t>Aufwand</a:t>
            </a:r>
            <a:r>
              <a:rPr lang="en-GB" dirty="0"/>
              <a:t>?</a:t>
            </a:r>
          </a:p>
          <a:p>
            <a:endParaRPr lang="en-GB" dirty="0"/>
          </a:p>
          <a:p>
            <a:r>
              <a:rPr lang="en-GB" b="1" dirty="0"/>
              <a:t>F4:</a:t>
            </a:r>
            <a:r>
              <a:rPr lang="en-GB" dirty="0"/>
              <a:t> Welcher Kosten–</a:t>
            </a:r>
            <a:r>
              <a:rPr lang="en-GB" dirty="0" err="1"/>
              <a:t>Genauigkeit-Kompromiss</a:t>
            </a:r>
            <a:r>
              <a:rPr lang="en-GB" dirty="0"/>
              <a:t> </a:t>
            </a:r>
            <a:r>
              <a:rPr lang="en-GB" dirty="0" err="1"/>
              <a:t>ergibt</a:t>
            </a:r>
            <a:r>
              <a:rPr lang="en-GB" dirty="0"/>
              <a:t> </a:t>
            </a:r>
            <a:r>
              <a:rPr lang="en-GB" dirty="0" err="1"/>
              <a:t>sich</a:t>
            </a:r>
            <a:r>
              <a:rPr lang="en-GB" dirty="0"/>
              <a:t> </a:t>
            </a:r>
            <a:r>
              <a:rPr lang="en-GB" dirty="0" err="1"/>
              <a:t>im</a:t>
            </a:r>
            <a:r>
              <a:rPr lang="en-GB" dirty="0"/>
              <a:t> </a:t>
            </a:r>
            <a:r>
              <a:rPr lang="en-GB" dirty="0" err="1"/>
              <a:t>ToT</a:t>
            </a:r>
            <a:r>
              <a:rPr lang="en-GB" dirty="0"/>
              <a:t>-Setting </a:t>
            </a:r>
            <a:r>
              <a:rPr lang="en-GB" dirty="0" err="1"/>
              <a:t>beim</a:t>
            </a:r>
            <a:r>
              <a:rPr lang="en-GB" dirty="0"/>
              <a:t> </a:t>
            </a:r>
            <a:r>
              <a:rPr lang="en-GB" dirty="0" err="1"/>
              <a:t>Austausch</a:t>
            </a:r>
            <a:r>
              <a:rPr lang="en-GB" dirty="0"/>
              <a:t> der </a:t>
            </a:r>
            <a:r>
              <a:rPr lang="en-GB" dirty="0" err="1"/>
              <a:t>Knotenevaluation</a:t>
            </a:r>
            <a:r>
              <a:rPr lang="en-GB" dirty="0"/>
              <a:t>?</a:t>
            </a:r>
          </a:p>
          <a:p>
            <a:pPr marL="0" indent="0">
              <a:buNone/>
            </a:pP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A3045-335B-54B2-BEAD-07AF6192F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9F7700-8D79-EA24-CF0C-C4F97AEE7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47073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C9EB4-85B6-1E5F-0073-0836D6D27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CoT</a:t>
            </a:r>
            <a:r>
              <a:rPr lang="en-GB" dirty="0"/>
              <a:t> &amp; </a:t>
            </a:r>
            <a:r>
              <a:rPr lang="en-GB" dirty="0" err="1"/>
              <a:t>CoD</a:t>
            </a:r>
            <a:r>
              <a:rPr lang="en-GB" dirty="0"/>
              <a:t> Experiment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0203CB-B89C-C92E-A6C1-83A0BA964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147C5-0917-9EA7-C3A7-07AFD05E6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10</a:t>
            </a:fld>
            <a:endParaRPr lang="en-C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042775-398B-9E67-537D-64040BF68F49}"/>
              </a:ext>
            </a:extLst>
          </p:cNvPr>
          <p:cNvSpPr txBox="1"/>
          <p:nvPr/>
        </p:nvSpPr>
        <p:spPr>
          <a:xfrm>
            <a:off x="700860" y="1828083"/>
            <a:ext cx="46542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5 </a:t>
            </a:r>
            <a:r>
              <a:rPr lang="en-GB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Datensätze</a:t>
            </a:r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GB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Logische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Aufgaben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HotpotQA, 2WikiMHQA, </a:t>
            </a:r>
          </a:p>
          <a:p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Mathe </a:t>
            </a:r>
            <a:r>
              <a:rPr lang="en-GB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Aufgaben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GSM8K, SVAMP, </a:t>
            </a:r>
            <a:r>
              <a:rPr lang="en-GB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ASDiv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 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Modell: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 Llama-3.1-8B-Instruct  </a:t>
            </a:r>
          </a:p>
          <a:p>
            <a:endParaRPr lang="en-GB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Runs: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 5 </a:t>
            </a:r>
            <a:r>
              <a:rPr lang="en-GB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Läufe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 pro </a:t>
            </a:r>
            <a:r>
              <a:rPr lang="en-GB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Datensatz</a:t>
            </a:r>
            <a:r>
              <a:rPr lang="en-GB" sz="2000" dirty="0">
                <a:latin typeface="Segoe UI" panose="020B0502040204020203" pitchFamily="34" charset="0"/>
                <a:cs typeface="Segoe UI" panose="020B0502040204020203" pitchFamily="34" charset="0"/>
              </a:rPr>
              <a:t>/Setting</a:t>
            </a:r>
          </a:p>
        </p:txBody>
      </p:sp>
      <p:pic>
        <p:nvPicPr>
          <p:cNvPr id="7" name="Picture 6" descr="A diagram of a business process&#10;&#10;AI-generated content may be incorrect.">
            <a:extLst>
              <a:ext uri="{FF2B5EF4-FFF2-40B4-BE49-F238E27FC236}">
                <a16:creationId xmlns:a16="http://schemas.microsoft.com/office/drawing/2014/main" id="{36B57522-0FF0-25F7-6B5D-FE51640F9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375" y="1663224"/>
            <a:ext cx="6164646" cy="46455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53AC18-381B-2004-1759-9212E787278B}"/>
              </a:ext>
            </a:extLst>
          </p:cNvPr>
          <p:cNvSpPr txBox="1"/>
          <p:nvPr/>
        </p:nvSpPr>
        <p:spPr>
          <a:xfrm>
            <a:off x="5933324" y="1828083"/>
            <a:ext cx="4657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Who, in 1541, founded the school where Robert Simons was educated? </a:t>
            </a:r>
            <a:endParaRPr lang="en-CH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D4837-85D1-3975-68A5-E6584FD9376B}"/>
              </a:ext>
            </a:extLst>
          </p:cNvPr>
          <p:cNvSpPr txBox="1"/>
          <p:nvPr/>
        </p:nvSpPr>
        <p:spPr>
          <a:xfrm>
            <a:off x="5933324" y="2611809"/>
            <a:ext cx="49825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The depth of the water is 9 times Dean's height. If Ron is 15 feet tall and Dean is 6 feet shorter than Ron. How deep was the water?</a:t>
            </a:r>
          </a:p>
        </p:txBody>
      </p:sp>
    </p:spTree>
    <p:extLst>
      <p:ext uri="{BB962C8B-B14F-4D97-AF65-F5344CB8AC3E}">
        <p14:creationId xmlns:p14="http://schemas.microsoft.com/office/powerpoint/2010/main" val="1366704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9" grpId="0"/>
      <p:bldP spid="9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94534DE-A227-DECB-EFAC-428D82CA4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566" y="3516185"/>
            <a:ext cx="5734740" cy="29432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41C4E6-764B-76AD-0988-11403BF34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Resultate</a:t>
            </a:r>
            <a:r>
              <a:rPr lang="en-GB" dirty="0"/>
              <a:t> – Accuracy </a:t>
            </a:r>
            <a:r>
              <a:rPr lang="en-GB" dirty="0" err="1"/>
              <a:t>CoD</a:t>
            </a:r>
            <a:r>
              <a:rPr lang="en-GB" dirty="0"/>
              <a:t>, </a:t>
            </a:r>
            <a:r>
              <a:rPr lang="en-GB" dirty="0" err="1"/>
              <a:t>CoT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E3CC1C-BE9E-E0C8-5053-C82D7F099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F2BC7-B61D-3100-C6D0-03CBF5CF4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11</a:t>
            </a:fld>
            <a:endParaRPr lang="en-C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0AA3D7-EB29-64EF-46E4-F58B0F96BDD3}"/>
              </a:ext>
            </a:extLst>
          </p:cNvPr>
          <p:cNvSpPr txBox="1"/>
          <p:nvPr/>
        </p:nvSpPr>
        <p:spPr>
          <a:xfrm>
            <a:off x="621792" y="1581912"/>
            <a:ext cx="739311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Logische</a:t>
            </a:r>
            <a:r>
              <a:rPr lang="en-GB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Multi-Hop-</a:t>
            </a:r>
            <a:r>
              <a:rPr lang="en-GB" dirty="0" err="1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Datensätze</a:t>
            </a:r>
            <a:r>
              <a:rPr lang="en-GB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→ </a:t>
            </a:r>
            <a:r>
              <a:rPr lang="en-GB" dirty="0" err="1">
                <a:latin typeface="Segoe UI" panose="020B0502040204020203" pitchFamily="34" charset="0"/>
                <a:cs typeface="Segoe UI" panose="020B0502040204020203" pitchFamily="34" charset="0"/>
              </a:rPr>
              <a:t>sehr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dirty="0" err="1">
                <a:latin typeface="Segoe UI" panose="020B0502040204020203" pitchFamily="34" charset="0"/>
                <a:cs typeface="Segoe UI" panose="020B0502040204020203" pitchFamily="34" charset="0"/>
              </a:rPr>
              <a:t>geringe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Accuracy (3–26 %)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accent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Mathematische </a:t>
            </a:r>
            <a:r>
              <a:rPr lang="en-GB" dirty="0" err="1">
                <a:solidFill>
                  <a:schemeClr val="accent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Datensätze</a:t>
            </a:r>
            <a:r>
              <a:rPr lang="en-GB" dirty="0">
                <a:solidFill>
                  <a:schemeClr val="accent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→ </a:t>
            </a:r>
            <a:r>
              <a:rPr lang="en-GB" dirty="0" err="1">
                <a:latin typeface="Segoe UI" panose="020B0502040204020203" pitchFamily="34" charset="0"/>
                <a:cs typeface="Segoe UI" panose="020B0502040204020203" pitchFamily="34" charset="0"/>
              </a:rPr>
              <a:t>höhere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Accuracy (40–65 %)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Segoe UI" panose="020B0502040204020203" pitchFamily="34" charset="0"/>
                <a:cs typeface="Segoe UI" panose="020B0502040204020203" pitchFamily="34" charset="0"/>
              </a:rPr>
              <a:t>Durchschnittlich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dirty="0" err="1">
                <a:latin typeface="Segoe UI" panose="020B0502040204020203" pitchFamily="34" charset="0"/>
                <a:cs typeface="Segoe UI" panose="020B0502040204020203" pitchFamily="34" charset="0"/>
              </a:rPr>
              <a:t>verliert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dirty="0" err="1">
                <a:latin typeface="Segoe UI" panose="020B0502040204020203" pitchFamily="34" charset="0"/>
                <a:cs typeface="Segoe UI" panose="020B0502040204020203" pitchFamily="34" charset="0"/>
              </a:rPr>
              <a:t>CoD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−2.84 </a:t>
            </a:r>
            <a:r>
              <a:rPr lang="en-GB" b="1" dirty="0" err="1">
                <a:latin typeface="Segoe UI" panose="020B0502040204020203" pitchFamily="34" charset="0"/>
                <a:cs typeface="Segoe UI" panose="020B0502040204020203" pitchFamily="34" charset="0"/>
              </a:rPr>
              <a:t>Prozentpunkte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dirty="0" err="1">
                <a:latin typeface="Segoe UI" panose="020B0502040204020203" pitchFamily="34" charset="0"/>
                <a:cs typeface="Segoe UI" panose="020B0502040204020203" pitchFamily="34" charset="0"/>
              </a:rPr>
              <a:t>gegenüber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dirty="0" err="1">
                <a:latin typeface="Segoe UI" panose="020B0502040204020203" pitchFamily="34" charset="0"/>
                <a:cs typeface="Segoe UI" panose="020B0502040204020203" pitchFamily="34" charset="0"/>
              </a:rPr>
              <a:t>CoT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3C808B-6665-6320-A84F-39684B24C446}"/>
              </a:ext>
            </a:extLst>
          </p:cNvPr>
          <p:cNvCxnSpPr/>
          <p:nvPr/>
        </p:nvCxnSpPr>
        <p:spPr>
          <a:xfrm>
            <a:off x="1796169" y="4777720"/>
            <a:ext cx="0" cy="828675"/>
          </a:xfrm>
          <a:prstGeom prst="line">
            <a:avLst/>
          </a:prstGeom>
          <a:ln w="6985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663EE22-9DBD-6D20-6F11-77C5D471FC8B}"/>
              </a:ext>
            </a:extLst>
          </p:cNvPr>
          <p:cNvCxnSpPr>
            <a:cxnSpLocks/>
          </p:cNvCxnSpPr>
          <p:nvPr/>
        </p:nvCxnSpPr>
        <p:spPr>
          <a:xfrm>
            <a:off x="1796169" y="4183902"/>
            <a:ext cx="0" cy="465138"/>
          </a:xfrm>
          <a:prstGeom prst="line">
            <a:avLst/>
          </a:prstGeom>
          <a:ln w="698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5379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F1DD8-D778-154E-F8C8-E20566F4C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Resultate Aggregations-Metriken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AA33A3C-3730-6227-F881-F813E8C7D6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712438" y="1583102"/>
            <a:ext cx="4248054" cy="424805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45E81-7938-AD1B-C5DA-1CF2EA833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B4AD11-190A-F277-A2E7-A28882D0D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12</a:t>
            </a:fld>
            <a:endParaRPr lang="en-C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6617DC-0A31-70EE-7D85-EAA55AF8B3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67641"/>
            <a:ext cx="4030568" cy="28789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932056-36A2-41BA-6319-E89F090E35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0568" y="2540117"/>
            <a:ext cx="3681870" cy="262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779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E7859-4D7C-CA41-4424-B2EA35157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Self-Probing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DDCC7A-11BE-2166-8EE0-98DAADF871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082" y="1702593"/>
            <a:ext cx="6216084" cy="358378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C167E-D378-25C1-F9B4-7C20BCA3A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FFDA5-06F1-143E-F2FA-B99E9A24E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13</a:t>
            </a:fld>
            <a:endParaRPr lang="en-C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39EE02-DB3B-DCDB-622A-171AA299A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037" y="1456378"/>
            <a:ext cx="5257800" cy="419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787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057D-B18C-6FF2-8658-01579CEE5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P-True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4768775-4CF9-1C7D-A2C1-1015601988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71470" y="2125662"/>
            <a:ext cx="6478259" cy="320357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0749-58EB-2139-655A-CE495FCBC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CA2B9C-70B2-E241-ABC9-28872A52A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14</a:t>
            </a:fld>
            <a:endParaRPr lang="en-C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F97581-5B25-8E1F-72E2-DA9DAA9D4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02" y="2404006"/>
            <a:ext cx="5225068" cy="301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43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65B41-5C63-F770-FE6C-BC64A0808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F736C-85A8-D493-5BDE-8B88150C9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054396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Tree-of-Thought: </a:t>
            </a:r>
            <a:r>
              <a:rPr lang="en-GB" dirty="0" err="1"/>
              <a:t>Ablauf</a:t>
            </a:r>
            <a:r>
              <a:rPr lang="en-GB" dirty="0"/>
              <a:t> am </a:t>
            </a:r>
            <a:r>
              <a:rPr lang="en-GB" dirty="0" err="1"/>
              <a:t>Beispiel</a:t>
            </a:r>
            <a:r>
              <a:rPr lang="en-GB" dirty="0"/>
              <a:t> „Game of 24“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986B50-2192-CCA1-AAE6-54B5296EA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EEE7F-12EC-6C7F-5022-B84F7BF78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15</a:t>
            </a:fld>
            <a:endParaRPr lang="en-C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45C956-3BBF-862F-0DAF-12FCF20604E5}"/>
              </a:ext>
            </a:extLst>
          </p:cNvPr>
          <p:cNvSpPr txBox="1"/>
          <p:nvPr/>
        </p:nvSpPr>
        <p:spPr>
          <a:xfrm>
            <a:off x="835465" y="1939964"/>
            <a:ext cx="382857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i="1" dirty="0"/>
              <a:t>Game of 24</a:t>
            </a:r>
            <a:r>
              <a:rPr lang="en-GB" sz="2000" dirty="0"/>
              <a:t>: </a:t>
            </a:r>
          </a:p>
          <a:p>
            <a:r>
              <a:rPr lang="en-GB" sz="2000" dirty="0"/>
              <a:t>4 Zahlen, 4 </a:t>
            </a:r>
            <a:r>
              <a:rPr lang="en-GB" sz="2000" dirty="0" err="1"/>
              <a:t>Operatoren</a:t>
            </a:r>
            <a:r>
              <a:rPr lang="en-GB" sz="2000" dirty="0"/>
              <a:t>, Ziel = 24</a:t>
            </a:r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 err="1"/>
              <a:t>ToT-Ablauf</a:t>
            </a:r>
            <a:r>
              <a:rPr lang="en-GB" sz="2000" dirty="0"/>
              <a:t>:</a:t>
            </a:r>
          </a:p>
          <a:p>
            <a:r>
              <a:rPr lang="en-GB" sz="2000" dirty="0"/>
              <a:t>• Propose </a:t>
            </a:r>
            <a:r>
              <a:rPr lang="en-GB" sz="2000" dirty="0" err="1"/>
              <a:t>nächste</a:t>
            </a:r>
            <a:r>
              <a:rPr lang="en-GB" sz="2000" dirty="0"/>
              <a:t> </a:t>
            </a:r>
            <a:r>
              <a:rPr lang="en-GB" sz="2000" dirty="0" err="1"/>
              <a:t>Schritte</a:t>
            </a:r>
            <a:endParaRPr lang="en-GB" sz="2000" dirty="0"/>
          </a:p>
          <a:p>
            <a:r>
              <a:rPr lang="en-GB" sz="2000" dirty="0"/>
              <a:t>• Evaluate </a:t>
            </a:r>
            <a:r>
              <a:rPr lang="en-GB" sz="2000" dirty="0" err="1"/>
              <a:t>Optionen</a:t>
            </a:r>
            <a:endParaRPr lang="en-GB" sz="2000" dirty="0"/>
          </a:p>
          <a:p>
            <a:r>
              <a:rPr lang="en-GB" sz="2000" dirty="0"/>
              <a:t>• Select top-b → </a:t>
            </a:r>
            <a:r>
              <a:rPr lang="en-GB" sz="2000" dirty="0" err="1"/>
              <a:t>expandiere</a:t>
            </a:r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• </a:t>
            </a:r>
            <a:r>
              <a:rPr lang="en-GB" sz="2000" dirty="0" err="1"/>
              <a:t>Validieren</a:t>
            </a:r>
            <a:r>
              <a:rPr lang="en-GB" sz="2000" dirty="0"/>
              <a:t>, </a:t>
            </a:r>
            <a:r>
              <a:rPr lang="en-GB" sz="2000" dirty="0" err="1"/>
              <a:t>ob</a:t>
            </a:r>
            <a:r>
              <a:rPr lang="en-GB" sz="2000" dirty="0"/>
              <a:t> </a:t>
            </a:r>
            <a:r>
              <a:rPr lang="en-GB" sz="2000" dirty="0" err="1"/>
              <a:t>Lösung</a:t>
            </a:r>
            <a:r>
              <a:rPr lang="en-GB" sz="2000" dirty="0"/>
              <a:t> = 24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D4A73A2-51E2-9781-BF49-48A30749E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1536" y="549274"/>
            <a:ext cx="6544831" cy="57594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90BB6C-AEA8-0671-CA3A-7AF66FD33EBD}"/>
              </a:ext>
            </a:extLst>
          </p:cNvPr>
          <p:cNvSpPr txBox="1"/>
          <p:nvPr/>
        </p:nvSpPr>
        <p:spPr>
          <a:xfrm>
            <a:off x="7818120" y="923544"/>
            <a:ext cx="1115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600" dirty="0">
                <a:latin typeface="Consolas" panose="020B0609020204030204" pitchFamily="49" charset="0"/>
                <a:cs typeface="Consolas" panose="020B0609020204030204" pitchFamily="49" charset="0"/>
              </a:rPr>
              <a:t>1 3 7 8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EA8426-390F-4487-2AFF-AA49CBDCA853}"/>
              </a:ext>
            </a:extLst>
          </p:cNvPr>
          <p:cNvSpPr txBox="1"/>
          <p:nvPr/>
        </p:nvSpPr>
        <p:spPr>
          <a:xfrm>
            <a:off x="10410091" y="4750449"/>
            <a:ext cx="5772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600" dirty="0">
                <a:latin typeface="Consolas" panose="020B0609020204030204" pitchFamily="49" charset="0"/>
                <a:cs typeface="Consolas" panose="020B0609020204030204" pitchFamily="49" charset="0"/>
              </a:rPr>
              <a:t>3+8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F1B59E-4810-AEF1-9E23-AF668E67DCF1}"/>
              </a:ext>
            </a:extLst>
          </p:cNvPr>
          <p:cNvSpPr txBox="1"/>
          <p:nvPr/>
        </p:nvSpPr>
        <p:spPr>
          <a:xfrm>
            <a:off x="7403798" y="1604405"/>
            <a:ext cx="577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600" dirty="0">
                <a:latin typeface="Consolas" panose="020B0609020204030204" pitchFamily="49" charset="0"/>
                <a:cs typeface="Consolas" panose="020B0609020204030204" pitchFamily="49" charset="0"/>
              </a:rPr>
              <a:t>1+3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46F762-5136-3444-9765-33794ECB11B4}"/>
              </a:ext>
            </a:extLst>
          </p:cNvPr>
          <p:cNvSpPr txBox="1"/>
          <p:nvPr/>
        </p:nvSpPr>
        <p:spPr>
          <a:xfrm>
            <a:off x="9903852" y="1601410"/>
            <a:ext cx="577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600" dirty="0">
                <a:latin typeface="Consolas" panose="020B0609020204030204" pitchFamily="49" charset="0"/>
                <a:cs typeface="Consolas" panose="020B0609020204030204" pitchFamily="49" charset="0"/>
              </a:rPr>
              <a:t>7-1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9B4EDC-9154-7B91-0B1D-4A0EF3006859}"/>
              </a:ext>
            </a:extLst>
          </p:cNvPr>
          <p:cNvSpPr txBox="1"/>
          <p:nvPr/>
        </p:nvSpPr>
        <p:spPr>
          <a:xfrm>
            <a:off x="6484825" y="4048704"/>
            <a:ext cx="577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600" dirty="0">
                <a:latin typeface="Consolas" panose="020B0609020204030204" pitchFamily="49" charset="0"/>
                <a:cs typeface="Consolas" panose="020B0609020204030204" pitchFamily="49" charset="0"/>
              </a:rPr>
              <a:t>3 8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14A1D6-6E3C-92A3-64BA-867FC1B1726B}"/>
              </a:ext>
            </a:extLst>
          </p:cNvPr>
          <p:cNvSpPr txBox="1"/>
          <p:nvPr/>
        </p:nvSpPr>
        <p:spPr>
          <a:xfrm>
            <a:off x="7988030" y="4048704"/>
            <a:ext cx="805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600" dirty="0">
                <a:latin typeface="Consolas" panose="020B0609020204030204" pitchFamily="49" charset="0"/>
                <a:cs typeface="Consolas" panose="020B0609020204030204" pitchFamily="49" charset="0"/>
              </a:rPr>
              <a:t>8 28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22430E-7216-2BDA-0692-CDA8E76967E7}"/>
              </a:ext>
            </a:extLst>
          </p:cNvPr>
          <p:cNvSpPr txBox="1"/>
          <p:nvPr/>
        </p:nvSpPr>
        <p:spPr>
          <a:xfrm>
            <a:off x="5513037" y="2478582"/>
            <a:ext cx="9034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600" dirty="0">
                <a:latin typeface="Consolas" panose="020B0609020204030204" pitchFamily="49" charset="0"/>
                <a:cs typeface="Consolas" panose="020B0609020204030204" pitchFamily="49" charset="0"/>
              </a:rPr>
              <a:t>1 3 56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F783B1-1E9C-BC70-2084-4B147C31334F}"/>
              </a:ext>
            </a:extLst>
          </p:cNvPr>
          <p:cNvSpPr txBox="1"/>
          <p:nvPr/>
        </p:nvSpPr>
        <p:spPr>
          <a:xfrm>
            <a:off x="10301900" y="2478303"/>
            <a:ext cx="805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600" dirty="0">
                <a:latin typeface="Consolas" panose="020B0609020204030204" pitchFamily="49" charset="0"/>
                <a:cs typeface="Consolas" panose="020B0609020204030204" pitchFamily="49" charset="0"/>
              </a:rPr>
              <a:t>3 6 8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FA4078-6DB1-E64A-0DAA-398255C92DA7}"/>
              </a:ext>
            </a:extLst>
          </p:cNvPr>
          <p:cNvSpPr txBox="1"/>
          <p:nvPr/>
        </p:nvSpPr>
        <p:spPr>
          <a:xfrm>
            <a:off x="8722239" y="2485080"/>
            <a:ext cx="936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600" dirty="0">
                <a:latin typeface="Consolas" panose="020B0609020204030204" pitchFamily="49" charset="0"/>
                <a:cs typeface="Consolas" panose="020B0609020204030204" pitchFamily="49" charset="0"/>
              </a:rPr>
              <a:t>1 8 21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8B88F0-CB79-DA1F-AF2C-4E9989E6C17A}"/>
              </a:ext>
            </a:extLst>
          </p:cNvPr>
          <p:cNvSpPr txBox="1"/>
          <p:nvPr/>
        </p:nvSpPr>
        <p:spPr>
          <a:xfrm>
            <a:off x="5754072" y="5627342"/>
            <a:ext cx="5403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600" dirty="0">
                <a:latin typeface="Consolas" panose="020B0609020204030204" pitchFamily="49" charset="0"/>
                <a:cs typeface="Consolas" panose="020B0609020204030204" pitchFamily="49" charset="0"/>
              </a:rPr>
              <a:t>24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89674C-F600-BAB8-E60F-3D26ED34A7B6}"/>
              </a:ext>
            </a:extLst>
          </p:cNvPr>
          <p:cNvSpPr txBox="1"/>
          <p:nvPr/>
        </p:nvSpPr>
        <p:spPr>
          <a:xfrm>
            <a:off x="7403798" y="5627342"/>
            <a:ext cx="805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600" dirty="0"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D24812-78DB-DF53-C36E-9DED3EF4AFC1}"/>
              </a:ext>
            </a:extLst>
          </p:cNvPr>
          <p:cNvSpPr txBox="1"/>
          <p:nvPr/>
        </p:nvSpPr>
        <p:spPr>
          <a:xfrm>
            <a:off x="8896267" y="5627342"/>
            <a:ext cx="4227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600" dirty="0">
                <a:latin typeface="Consolas" panose="020B0609020204030204" pitchFamily="49" charset="0"/>
                <a:cs typeface="Consolas" panose="020B0609020204030204" pitchFamily="49" charset="0"/>
              </a:rPr>
              <a:t>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B494FE-10F4-CCC9-D4A7-84508EFB0503}"/>
              </a:ext>
            </a:extLst>
          </p:cNvPr>
          <p:cNvSpPr txBox="1"/>
          <p:nvPr/>
        </p:nvSpPr>
        <p:spPr>
          <a:xfrm>
            <a:off x="10483812" y="5627342"/>
            <a:ext cx="5034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600" dirty="0"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765680-C545-2226-005F-D9CF74F61AD6}"/>
              </a:ext>
            </a:extLst>
          </p:cNvPr>
          <p:cNvSpPr txBox="1"/>
          <p:nvPr/>
        </p:nvSpPr>
        <p:spPr>
          <a:xfrm>
            <a:off x="9604282" y="4048704"/>
            <a:ext cx="805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600" dirty="0">
                <a:latin typeface="Consolas" panose="020B0609020204030204" pitchFamily="49" charset="0"/>
                <a:cs typeface="Consolas" panose="020B0609020204030204" pitchFamily="49" charset="0"/>
              </a:rPr>
              <a:t>3 8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01C9C0-8C92-DA92-5D21-554E19B6D300}"/>
              </a:ext>
            </a:extLst>
          </p:cNvPr>
          <p:cNvSpPr txBox="1"/>
          <p:nvPr/>
        </p:nvSpPr>
        <p:spPr>
          <a:xfrm>
            <a:off x="7125748" y="2478303"/>
            <a:ext cx="805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600" dirty="0">
                <a:latin typeface="Consolas" panose="020B0609020204030204" pitchFamily="49" charset="0"/>
                <a:cs typeface="Consolas" panose="020B0609020204030204" pitchFamily="49" charset="0"/>
              </a:rPr>
              <a:t>4 7 8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0D3DA7-19B3-48AE-F116-BA47927268DC}"/>
              </a:ext>
            </a:extLst>
          </p:cNvPr>
          <p:cNvSpPr txBox="1"/>
          <p:nvPr/>
        </p:nvSpPr>
        <p:spPr>
          <a:xfrm>
            <a:off x="11035327" y="3154093"/>
            <a:ext cx="577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600" dirty="0">
                <a:latin typeface="Consolas" panose="020B0609020204030204" pitchFamily="49" charset="0"/>
                <a:cs typeface="Consolas" panose="020B0609020204030204" pitchFamily="49" charset="0"/>
              </a:rPr>
              <a:t>8-3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EB9C10-0B34-38AE-E69E-38567074A186}"/>
              </a:ext>
            </a:extLst>
          </p:cNvPr>
          <p:cNvSpPr txBox="1"/>
          <p:nvPr/>
        </p:nvSpPr>
        <p:spPr>
          <a:xfrm>
            <a:off x="6315386" y="1601410"/>
            <a:ext cx="577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600" dirty="0">
                <a:latin typeface="Consolas" panose="020B0609020204030204" pitchFamily="49" charset="0"/>
                <a:cs typeface="Consolas" panose="020B0609020204030204" pitchFamily="49" charset="0"/>
              </a:rPr>
              <a:t>7*8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375ACF-1827-F5F7-D923-5EA7D653D41C}"/>
              </a:ext>
            </a:extLst>
          </p:cNvPr>
          <p:cNvSpPr txBox="1"/>
          <p:nvPr/>
        </p:nvSpPr>
        <p:spPr>
          <a:xfrm>
            <a:off x="8721963" y="1601410"/>
            <a:ext cx="577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600" dirty="0">
                <a:latin typeface="Consolas" panose="020B0609020204030204" pitchFamily="49" charset="0"/>
                <a:cs typeface="Consolas" panose="020B0609020204030204" pitchFamily="49" charset="0"/>
              </a:rPr>
              <a:t>3*7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9B2D84-BD10-55C8-9B7C-1DC3FEEBD2D0}"/>
              </a:ext>
            </a:extLst>
          </p:cNvPr>
          <p:cNvSpPr txBox="1"/>
          <p:nvPr/>
        </p:nvSpPr>
        <p:spPr>
          <a:xfrm>
            <a:off x="6558042" y="3158286"/>
            <a:ext cx="577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600" dirty="0">
                <a:latin typeface="Consolas" panose="020B0609020204030204" pitchFamily="49" charset="0"/>
                <a:cs typeface="Consolas" panose="020B0609020204030204" pitchFamily="49" charset="0"/>
              </a:rPr>
              <a:t>7-4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9502D3-C60C-AD48-1131-2D662FDF97CF}"/>
              </a:ext>
            </a:extLst>
          </p:cNvPr>
          <p:cNvSpPr txBox="1"/>
          <p:nvPr/>
        </p:nvSpPr>
        <p:spPr>
          <a:xfrm>
            <a:off x="9751904" y="3162667"/>
            <a:ext cx="577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600" dirty="0">
                <a:latin typeface="Consolas" panose="020B0609020204030204" pitchFamily="49" charset="0"/>
                <a:cs typeface="Consolas" panose="020B0609020204030204" pitchFamily="49" charset="0"/>
              </a:rPr>
              <a:t>6-3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FCD56B-5463-D623-E640-8436C604457B}"/>
              </a:ext>
            </a:extLst>
          </p:cNvPr>
          <p:cNvSpPr txBox="1"/>
          <p:nvPr/>
        </p:nvSpPr>
        <p:spPr>
          <a:xfrm>
            <a:off x="5816923" y="4745886"/>
            <a:ext cx="577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600" dirty="0">
                <a:latin typeface="Consolas" panose="020B0609020204030204" pitchFamily="49" charset="0"/>
                <a:cs typeface="Consolas" panose="020B0609020204030204" pitchFamily="49" charset="0"/>
              </a:rPr>
              <a:t>3*8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34C9C9-661D-35C6-4D0C-E5CE6F7293D1}"/>
              </a:ext>
            </a:extLst>
          </p:cNvPr>
          <p:cNvSpPr txBox="1"/>
          <p:nvPr/>
        </p:nvSpPr>
        <p:spPr>
          <a:xfrm>
            <a:off x="8881122" y="4743672"/>
            <a:ext cx="577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600" dirty="0">
                <a:latin typeface="Consolas" panose="020B0609020204030204" pitchFamily="49" charset="0"/>
                <a:cs typeface="Consolas" panose="020B0609020204030204" pitchFamily="49" charset="0"/>
              </a:rPr>
              <a:t>3*8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5D1555-79A7-3995-3DFB-A95403F884EF}"/>
              </a:ext>
            </a:extLst>
          </p:cNvPr>
          <p:cNvSpPr txBox="1"/>
          <p:nvPr/>
        </p:nvSpPr>
        <p:spPr>
          <a:xfrm>
            <a:off x="7215338" y="4745886"/>
            <a:ext cx="577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600" dirty="0">
                <a:latin typeface="Consolas" panose="020B0609020204030204" pitchFamily="49" charset="0"/>
                <a:cs typeface="Consolas" panose="020B0609020204030204" pitchFamily="49" charset="0"/>
              </a:rPr>
              <a:t>8-3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D2C035-A584-B922-2450-D3455BECE4A4}"/>
              </a:ext>
            </a:extLst>
          </p:cNvPr>
          <p:cNvSpPr txBox="1"/>
          <p:nvPr/>
        </p:nvSpPr>
        <p:spPr>
          <a:xfrm>
            <a:off x="7891272" y="3154093"/>
            <a:ext cx="577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600" dirty="0">
                <a:latin typeface="Consolas" panose="020B0609020204030204" pitchFamily="49" charset="0"/>
                <a:cs typeface="Consolas" panose="020B0609020204030204" pitchFamily="49" charset="0"/>
              </a:rPr>
              <a:t>4*7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B59999-1248-2FE9-997F-CD8F990FFA9A}"/>
              </a:ext>
            </a:extLst>
          </p:cNvPr>
          <p:cNvSpPr txBox="1"/>
          <p:nvPr/>
        </p:nvSpPr>
        <p:spPr>
          <a:xfrm>
            <a:off x="11220534" y="4048704"/>
            <a:ext cx="577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600" dirty="0">
                <a:latin typeface="Consolas" panose="020B0609020204030204" pitchFamily="49" charset="0"/>
                <a:cs typeface="Consolas" panose="020B0609020204030204" pitchFamily="49" charset="0"/>
              </a:rPr>
              <a:t>5 6</a:t>
            </a:r>
          </a:p>
        </p:txBody>
      </p:sp>
      <p:pic>
        <p:nvPicPr>
          <p:cNvPr id="37" name="Graphic 36" descr="Tick with solid fill">
            <a:extLst>
              <a:ext uri="{FF2B5EF4-FFF2-40B4-BE49-F238E27FC236}">
                <a16:creationId xmlns:a16="http://schemas.microsoft.com/office/drawing/2014/main" id="{ACBF78EC-F221-5DAA-3952-A0F4436C27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61093" y="5672214"/>
            <a:ext cx="226707" cy="226707"/>
          </a:xfrm>
          <a:prstGeom prst="rect">
            <a:avLst/>
          </a:prstGeom>
        </p:spPr>
      </p:pic>
      <p:pic>
        <p:nvPicPr>
          <p:cNvPr id="39" name="Graphic 38" descr="Tick with solid fill">
            <a:extLst>
              <a:ext uri="{FF2B5EF4-FFF2-40B4-BE49-F238E27FC236}">
                <a16:creationId xmlns:a16="http://schemas.microsoft.com/office/drawing/2014/main" id="{AD6EE673-1534-ACC1-A80B-701141B97A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16326" y="5672214"/>
            <a:ext cx="248810" cy="248810"/>
          </a:xfrm>
          <a:prstGeom prst="rect">
            <a:avLst/>
          </a:prstGeom>
        </p:spPr>
      </p:pic>
      <p:pic>
        <p:nvPicPr>
          <p:cNvPr id="41" name="Graphic 40" descr="Close with solid fill">
            <a:extLst>
              <a:ext uri="{FF2B5EF4-FFF2-40B4-BE49-F238E27FC236}">
                <a16:creationId xmlns:a16="http://schemas.microsoft.com/office/drawing/2014/main" id="{97D3B1A6-BACA-2C04-9F81-87E1B2C9F9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37875" y="5649778"/>
            <a:ext cx="293682" cy="293682"/>
          </a:xfrm>
          <a:prstGeom prst="rect">
            <a:avLst/>
          </a:prstGeom>
        </p:spPr>
      </p:pic>
      <p:pic>
        <p:nvPicPr>
          <p:cNvPr id="42" name="Graphic 41" descr="Close with solid fill">
            <a:extLst>
              <a:ext uri="{FF2B5EF4-FFF2-40B4-BE49-F238E27FC236}">
                <a16:creationId xmlns:a16="http://schemas.microsoft.com/office/drawing/2014/main" id="{39EC3ABB-F20C-03FB-3239-B59D8BAD69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14027" y="5649778"/>
            <a:ext cx="293682" cy="293682"/>
          </a:xfrm>
          <a:prstGeom prst="rect">
            <a:avLst/>
          </a:prstGeom>
        </p:spPr>
      </p:pic>
      <p:pic>
        <p:nvPicPr>
          <p:cNvPr id="52" name="Graphic 51" descr="Line arrow: Rotate left outline">
            <a:extLst>
              <a:ext uri="{FF2B5EF4-FFF2-40B4-BE49-F238E27FC236}">
                <a16:creationId xmlns:a16="http://schemas.microsoft.com/office/drawing/2014/main" id="{6B040981-88B9-9968-AC13-9A4B8BAE43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4117976">
            <a:off x="3753211" y="3464511"/>
            <a:ext cx="896914" cy="89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330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6DA78-11A4-9404-2DB0-DD82678C7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97" y="136525"/>
            <a:ext cx="10419806" cy="856956"/>
          </a:xfrm>
        </p:spPr>
        <p:txBody>
          <a:bodyPr/>
          <a:lstStyle/>
          <a:p>
            <a:r>
              <a:rPr lang="en-GB" dirty="0"/>
              <a:t>Knoten-</a:t>
            </a:r>
            <a:r>
              <a:rPr lang="en-GB" dirty="0" err="1"/>
              <a:t>Evaluierung</a:t>
            </a:r>
            <a:r>
              <a:rPr lang="en-GB" dirty="0"/>
              <a:t> </a:t>
            </a:r>
            <a:r>
              <a:rPr lang="en-GB" dirty="0" err="1"/>
              <a:t>im</a:t>
            </a:r>
            <a:r>
              <a:rPr lang="en-GB" dirty="0"/>
              <a:t> </a:t>
            </a:r>
            <a:r>
              <a:rPr lang="en-GB" dirty="0" err="1"/>
              <a:t>ToT</a:t>
            </a:r>
            <a:r>
              <a:rPr lang="en-GB" dirty="0"/>
              <a:t>: Alt vs. Neu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4ECBC-7BCB-7873-2A4F-858B85EBFD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sz="3600" dirty="0" err="1"/>
              <a:t>Jeder</a:t>
            </a:r>
            <a:r>
              <a:rPr lang="en-GB" sz="3600" dirty="0"/>
              <a:t> </a:t>
            </a:r>
            <a:r>
              <a:rPr lang="en-GB" sz="3600" dirty="0" err="1"/>
              <a:t>nächste</a:t>
            </a:r>
            <a:r>
              <a:rPr lang="en-GB" sz="3600" dirty="0"/>
              <a:t> Knoten/State </a:t>
            </a:r>
            <a:r>
              <a:rPr lang="en-GB" sz="3600" dirty="0" err="1"/>
              <a:t>mehrfach</a:t>
            </a:r>
            <a:r>
              <a:rPr lang="en-GB" sz="3600" dirty="0"/>
              <a:t> </a:t>
            </a:r>
            <a:r>
              <a:rPr lang="en-GB" sz="3600" dirty="0" err="1"/>
              <a:t>vom</a:t>
            </a:r>
            <a:r>
              <a:rPr lang="en-GB" sz="3600" dirty="0"/>
              <a:t> LLM </a:t>
            </a:r>
            <a:r>
              <a:rPr lang="en-GB" sz="3600" dirty="0" err="1"/>
              <a:t>bewertet</a:t>
            </a:r>
            <a:endParaRPr lang="en-GB" sz="3600" dirty="0"/>
          </a:p>
          <a:p>
            <a:endParaRPr lang="en-GB" sz="3600" dirty="0"/>
          </a:p>
          <a:p>
            <a:pPr marL="0" indent="0">
              <a:buNone/>
            </a:pPr>
            <a:r>
              <a:rPr lang="en-GB" sz="3600" dirty="0" err="1"/>
              <a:t>Klassifikation</a:t>
            </a:r>
            <a:r>
              <a:rPr lang="en-GB" sz="3600" dirty="0"/>
              <a:t>: </a:t>
            </a:r>
            <a:r>
              <a:rPr lang="en-GB" sz="3600" i="1" dirty="0"/>
              <a:t>impossible – likely – sure</a:t>
            </a:r>
          </a:p>
          <a:p>
            <a:endParaRPr lang="en-GB" sz="3600" dirty="0"/>
          </a:p>
          <a:p>
            <a:pPr marL="0" indent="0">
              <a:buNone/>
            </a:pPr>
            <a:r>
              <a:rPr lang="en-GB" sz="3600" dirty="0" err="1"/>
              <a:t>Überführung</a:t>
            </a:r>
            <a:r>
              <a:rPr lang="en-GB" sz="3600" dirty="0"/>
              <a:t> in </a:t>
            </a:r>
            <a:r>
              <a:rPr lang="en-GB" sz="3600" dirty="0" err="1"/>
              <a:t>numerische</a:t>
            </a:r>
            <a:r>
              <a:rPr lang="en-GB" sz="3600" dirty="0"/>
              <a:t> Scores:</a:t>
            </a:r>
          </a:p>
          <a:p>
            <a:pPr marL="0" indent="0">
              <a:buNone/>
            </a:pPr>
            <a:r>
              <a:rPr lang="en-GB" sz="3600" dirty="0"/>
              <a:t>	• impossible → 0.1</a:t>
            </a:r>
          </a:p>
          <a:p>
            <a:pPr marL="0" indent="0">
              <a:buNone/>
            </a:pPr>
            <a:r>
              <a:rPr lang="en-GB" sz="3600" dirty="0"/>
              <a:t>	• likely → 20</a:t>
            </a:r>
          </a:p>
          <a:p>
            <a:pPr marL="0" indent="0">
              <a:buNone/>
            </a:pPr>
            <a:r>
              <a:rPr lang="en-GB" sz="3600" dirty="0"/>
              <a:t>	• sure → 60</a:t>
            </a:r>
          </a:p>
          <a:p>
            <a:pPr marL="0" indent="0">
              <a:buNone/>
            </a:pPr>
            <a:endParaRPr lang="en-GB" sz="3600" dirty="0"/>
          </a:p>
          <a:p>
            <a:pPr marL="0" indent="0">
              <a:buNone/>
            </a:pPr>
            <a:endParaRPr lang="en-GB" sz="3600" dirty="0"/>
          </a:p>
          <a:p>
            <a:pPr marL="0" indent="0">
              <a:buNone/>
            </a:pPr>
            <a:r>
              <a:rPr lang="en-GB" sz="3600" b="1" dirty="0" err="1"/>
              <a:t>Nachteile</a:t>
            </a:r>
            <a:r>
              <a:rPr lang="en-GB" sz="3600" dirty="0"/>
              <a:t>: </a:t>
            </a:r>
            <a:r>
              <a:rPr lang="en-GB" sz="3600" dirty="0" err="1"/>
              <a:t>teuer</a:t>
            </a:r>
            <a:r>
              <a:rPr lang="en-GB" sz="3600" dirty="0"/>
              <a:t> (</a:t>
            </a:r>
            <a:r>
              <a:rPr lang="en-GB" sz="3600" dirty="0" err="1"/>
              <a:t>mehrere</a:t>
            </a:r>
            <a:r>
              <a:rPr lang="en-GB" sz="3600" dirty="0"/>
              <a:t> LLM-Calls)</a:t>
            </a:r>
            <a:endParaRPr lang="en-CH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BC00DE-0F5C-F63C-A288-A2408EB56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728063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sz="3600" dirty="0" err="1"/>
              <a:t>Direkte</a:t>
            </a:r>
            <a:r>
              <a:rPr lang="en-GB" sz="3600" dirty="0"/>
              <a:t> </a:t>
            </a:r>
            <a:r>
              <a:rPr lang="en-GB" sz="3600" dirty="0" err="1"/>
              <a:t>Bewertung</a:t>
            </a:r>
            <a:r>
              <a:rPr lang="en-GB" sz="3600" dirty="0"/>
              <a:t> </a:t>
            </a:r>
            <a:r>
              <a:rPr lang="en-GB" sz="3600" dirty="0" err="1"/>
              <a:t>über</a:t>
            </a:r>
            <a:r>
              <a:rPr lang="en-GB" sz="3600" dirty="0"/>
              <a:t> </a:t>
            </a:r>
            <a:r>
              <a:rPr lang="en-GB" sz="3600" dirty="0" err="1"/>
              <a:t>Unsicherheit</a:t>
            </a:r>
            <a:r>
              <a:rPr lang="en-GB" sz="3600"/>
              <a:t>                    (Token-</a:t>
            </a:r>
            <a:r>
              <a:rPr lang="en-GB" sz="3600" dirty="0" err="1"/>
              <a:t>Wahrscheinlichkeiten</a:t>
            </a:r>
            <a:r>
              <a:rPr lang="en-GB" sz="3600" dirty="0"/>
              <a:t>)</a:t>
            </a:r>
          </a:p>
          <a:p>
            <a:pPr marL="0" indent="0">
              <a:buNone/>
            </a:pPr>
            <a:endParaRPr lang="en-GB" sz="3600" dirty="0"/>
          </a:p>
          <a:p>
            <a:pPr marL="0" indent="0">
              <a:buNone/>
            </a:pPr>
            <a:r>
              <a:rPr lang="en-GB" sz="3600" dirty="0"/>
              <a:t>• </a:t>
            </a:r>
            <a:r>
              <a:rPr lang="en-GB" sz="3600" b="1" dirty="0"/>
              <a:t>Single-Solution </a:t>
            </a:r>
            <a:r>
              <a:rPr lang="en-CH" sz="3600" b="1" dirty="0"/>
              <a:t>✅</a:t>
            </a:r>
            <a:endParaRPr lang="en-CH" sz="3600" dirty="0"/>
          </a:p>
          <a:p>
            <a:pPr marL="0" indent="0">
              <a:buNone/>
            </a:pPr>
            <a:r>
              <a:rPr lang="en-CH" sz="3600" dirty="0"/>
              <a:t>– </a:t>
            </a:r>
            <a:r>
              <a:rPr lang="en-GB" sz="3600" dirty="0" err="1"/>
              <a:t>ein</a:t>
            </a:r>
            <a:r>
              <a:rPr lang="en-GB" sz="3600" dirty="0"/>
              <a:t> Schritt pro </a:t>
            </a:r>
            <a:r>
              <a:rPr lang="en-GB" sz="3600" dirty="0" err="1"/>
              <a:t>Anfrage</a:t>
            </a:r>
            <a:endParaRPr lang="en-GB" sz="3600" dirty="0"/>
          </a:p>
          <a:p>
            <a:pPr marL="0" indent="0">
              <a:buNone/>
            </a:pPr>
            <a:r>
              <a:rPr lang="en-GB" sz="3600" dirty="0"/>
              <a:t>– </a:t>
            </a:r>
            <a:r>
              <a:rPr lang="en-GB" sz="3600" dirty="0" err="1"/>
              <a:t>mehrere</a:t>
            </a:r>
            <a:r>
              <a:rPr lang="en-GB" sz="3600" dirty="0"/>
              <a:t> </a:t>
            </a:r>
            <a:r>
              <a:rPr lang="en-GB" sz="3600" dirty="0" err="1"/>
              <a:t>Anfragen</a:t>
            </a:r>
            <a:r>
              <a:rPr lang="en-GB" sz="3600" dirty="0"/>
              <a:t> + Temp.-Variation → diverse </a:t>
            </a:r>
            <a:r>
              <a:rPr lang="en-GB" sz="3600" dirty="0" err="1"/>
              <a:t>Optionen</a:t>
            </a:r>
            <a:endParaRPr lang="en-GB" sz="3600" dirty="0"/>
          </a:p>
          <a:p>
            <a:pPr marL="0" indent="0">
              <a:buNone/>
            </a:pPr>
            <a:r>
              <a:rPr lang="en-GB" sz="3600" dirty="0"/>
              <a:t>– </a:t>
            </a:r>
            <a:r>
              <a:rPr lang="en-GB" sz="3600" dirty="0" err="1"/>
              <a:t>Vorteil</a:t>
            </a:r>
            <a:r>
              <a:rPr lang="en-GB" sz="3600" dirty="0"/>
              <a:t>: </a:t>
            </a:r>
            <a:r>
              <a:rPr lang="en-GB" sz="3600" dirty="0" err="1"/>
              <a:t>keine</a:t>
            </a:r>
            <a:r>
              <a:rPr lang="en-GB" sz="3600" dirty="0"/>
              <a:t> Splits </a:t>
            </a:r>
            <a:r>
              <a:rPr lang="en-GB" sz="3600" dirty="0" err="1"/>
              <a:t>nötig</a:t>
            </a:r>
            <a:endParaRPr lang="en-GB" sz="3600" dirty="0"/>
          </a:p>
          <a:p>
            <a:pPr marL="0" indent="0">
              <a:buNone/>
            </a:pPr>
            <a:r>
              <a:rPr lang="en-GB" sz="3600" dirty="0"/>
              <a:t>• </a:t>
            </a:r>
            <a:r>
              <a:rPr lang="en-GB" sz="3600" b="1" dirty="0"/>
              <a:t>Multiple-Solution ⚠️</a:t>
            </a:r>
            <a:endParaRPr lang="en-GB" sz="3600" dirty="0"/>
          </a:p>
          <a:p>
            <a:pPr marL="0" indent="0">
              <a:buNone/>
            </a:pPr>
            <a:r>
              <a:rPr lang="en-GB" sz="3600" dirty="0"/>
              <a:t>– </a:t>
            </a:r>
            <a:r>
              <a:rPr lang="en-GB" sz="3600" dirty="0" err="1"/>
              <a:t>mehrere</a:t>
            </a:r>
            <a:r>
              <a:rPr lang="en-GB" sz="3600" dirty="0"/>
              <a:t> </a:t>
            </a:r>
            <a:r>
              <a:rPr lang="en-GB" sz="3600" dirty="0" err="1"/>
              <a:t>Schritte</a:t>
            </a:r>
            <a:r>
              <a:rPr lang="en-GB" sz="3600" dirty="0"/>
              <a:t> in </a:t>
            </a:r>
            <a:r>
              <a:rPr lang="en-GB" sz="3600" dirty="0" err="1"/>
              <a:t>einer</a:t>
            </a:r>
            <a:r>
              <a:rPr lang="en-GB" sz="3600" dirty="0"/>
              <a:t> </a:t>
            </a:r>
            <a:r>
              <a:rPr lang="en-GB" sz="3600" dirty="0" err="1"/>
              <a:t>Anfrage</a:t>
            </a:r>
            <a:endParaRPr lang="en-GB" sz="3600" dirty="0"/>
          </a:p>
          <a:p>
            <a:pPr marL="0" indent="0">
              <a:buNone/>
            </a:pPr>
            <a:r>
              <a:rPr lang="en-GB" sz="3600" dirty="0"/>
              <a:t>– Splits </a:t>
            </a:r>
            <a:r>
              <a:rPr lang="en-GB" sz="3600" dirty="0" err="1"/>
              <a:t>verzerren</a:t>
            </a:r>
            <a:r>
              <a:rPr lang="en-GB" sz="3600" dirty="0"/>
              <a:t> Signal</a:t>
            </a:r>
          </a:p>
          <a:p>
            <a:pPr marL="0" indent="0">
              <a:buNone/>
            </a:pPr>
            <a:endParaRPr lang="en-GB" sz="3600" dirty="0"/>
          </a:p>
          <a:p>
            <a:pPr marL="0" indent="0">
              <a:buNone/>
            </a:pPr>
            <a:r>
              <a:rPr lang="en-GB" sz="3600" b="1" dirty="0" err="1"/>
              <a:t>Vorteile</a:t>
            </a:r>
            <a:r>
              <a:rPr lang="en-GB" sz="3600" b="1" dirty="0"/>
              <a:t>:</a:t>
            </a:r>
            <a:r>
              <a:rPr lang="en-GB" sz="3600" dirty="0"/>
              <a:t> </a:t>
            </a:r>
            <a:r>
              <a:rPr lang="en-GB" sz="3600" dirty="0" err="1"/>
              <a:t>günstiger</a:t>
            </a:r>
            <a:r>
              <a:rPr lang="en-GB" sz="3600" dirty="0"/>
              <a:t>, </a:t>
            </a:r>
            <a:r>
              <a:rPr lang="en-GB" sz="3600" dirty="0" err="1"/>
              <a:t>keine</a:t>
            </a:r>
            <a:r>
              <a:rPr lang="en-GB" sz="3600" dirty="0"/>
              <a:t> </a:t>
            </a:r>
            <a:r>
              <a:rPr lang="en-GB" sz="3600" dirty="0" err="1"/>
              <a:t>zusätzlichen</a:t>
            </a:r>
            <a:r>
              <a:rPr lang="en-GB" sz="3600" dirty="0"/>
              <a:t> LLM-Calls</a:t>
            </a:r>
          </a:p>
          <a:p>
            <a:pPr marL="0" indent="0">
              <a:buNone/>
            </a:pPr>
            <a:endParaRPr lang="en-CH" b="1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752FA-B50F-2A70-CDEA-0E0BC6982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6C22B-D55C-8481-9A16-8B37BFD39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16</a:t>
            </a:fld>
            <a:endParaRPr lang="en-C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CC2D1C-F155-B17D-E04C-244874348377}"/>
              </a:ext>
            </a:extLst>
          </p:cNvPr>
          <p:cNvSpPr txBox="1"/>
          <p:nvPr/>
        </p:nvSpPr>
        <p:spPr>
          <a:xfrm>
            <a:off x="733697" y="993481"/>
            <a:ext cx="4334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Ursprüngliche</a:t>
            </a:r>
            <a:r>
              <a:rPr lang="en-GB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Evaluierung</a:t>
            </a:r>
            <a:endParaRPr lang="en-GB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91E338-623E-2B7F-228C-7BB1B798D770}"/>
              </a:ext>
            </a:extLst>
          </p:cNvPr>
          <p:cNvSpPr txBox="1"/>
          <p:nvPr/>
        </p:nvSpPr>
        <p:spPr>
          <a:xfrm>
            <a:off x="6387736" y="1039647"/>
            <a:ext cx="2899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Neue </a:t>
            </a:r>
            <a:r>
              <a:rPr lang="en-GB" sz="24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Evaluierung</a:t>
            </a:r>
            <a:endParaRPr lang="en-GB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CEC0366-9018-D72B-9193-00A43B2CC483}"/>
              </a:ext>
            </a:extLst>
          </p:cNvPr>
          <p:cNvCxnSpPr/>
          <p:nvPr/>
        </p:nvCxnSpPr>
        <p:spPr>
          <a:xfrm>
            <a:off x="5889172" y="1455146"/>
            <a:ext cx="0" cy="4519749"/>
          </a:xfrm>
          <a:prstGeom prst="line">
            <a:avLst/>
          </a:prstGeom>
          <a:ln w="476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237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64695-C733-7DFB-2C16-B8E3FE55E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 err="1"/>
              <a:t>Modelltausch</a:t>
            </a:r>
            <a:r>
              <a:rPr lang="en-GB" sz="4000" dirty="0"/>
              <a:t> &amp; Kosten/</a:t>
            </a:r>
            <a:r>
              <a:rPr lang="en-GB" sz="4000" dirty="0" err="1"/>
              <a:t>Genauigkeit</a:t>
            </a:r>
            <a:endParaRPr lang="en-CH" sz="400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D99A66D-73C0-B8CB-576F-B2AE51311C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3687279"/>
              </p:ext>
            </p:extLst>
          </p:nvPr>
        </p:nvGraphicFramePr>
        <p:xfrm>
          <a:off x="814254" y="2046673"/>
          <a:ext cx="105155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597">
                  <a:extLst>
                    <a:ext uri="{9D8B030D-6E8A-4147-A177-3AD203B41FA5}">
                      <a16:colId xmlns:a16="http://schemas.microsoft.com/office/drawing/2014/main" val="1850057536"/>
                    </a:ext>
                  </a:extLst>
                </a:gridCol>
                <a:gridCol w="2704012">
                  <a:extLst>
                    <a:ext uri="{9D8B030D-6E8A-4147-A177-3AD203B41FA5}">
                      <a16:colId xmlns:a16="http://schemas.microsoft.com/office/drawing/2014/main" val="680652901"/>
                    </a:ext>
                  </a:extLst>
                </a:gridCol>
                <a:gridCol w="2629988">
                  <a:extLst>
                    <a:ext uri="{9D8B030D-6E8A-4147-A177-3AD203B41FA5}">
                      <a16:colId xmlns:a16="http://schemas.microsoft.com/office/drawing/2014/main" val="11871830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Setting</a:t>
                      </a:r>
                      <a:endParaRPr lang="en-GB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Kosten/Run*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969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/>
                        <a:t>Simple </a:t>
                      </a:r>
                      <a:r>
                        <a:rPr lang="en-GB" b="1" dirty="0" err="1"/>
                        <a:t>CoT</a:t>
                      </a:r>
                      <a:r>
                        <a:rPr lang="en-GB" b="1" dirty="0"/>
                        <a:t> (GPT-4)    </a:t>
                      </a:r>
                      <a:r>
                        <a:rPr lang="en-GB" b="0" dirty="0"/>
                        <a:t>(Yao et al., 2023)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b="1" dirty="0"/>
                        <a:t>4 %</a:t>
                      </a:r>
                      <a:endParaRPr lang="en-CH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b="1" dirty="0"/>
                        <a:t>$ 4.70</a:t>
                      </a:r>
                      <a:endParaRPr lang="en-CH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423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 err="1"/>
                        <a:t>ToT</a:t>
                      </a:r>
                      <a:r>
                        <a:rPr lang="en-GB" b="1" dirty="0"/>
                        <a:t>  (GPT-4, b=5).      </a:t>
                      </a:r>
                      <a:r>
                        <a:rPr lang="en-GB" b="0" dirty="0"/>
                        <a:t> (Yao et al., 2023)</a:t>
                      </a:r>
                      <a:endParaRPr lang="en-GB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b="1" dirty="0"/>
                        <a:t>69–74 %</a:t>
                      </a:r>
                      <a:endParaRPr lang="en-CH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b="1" dirty="0"/>
                        <a:t>$ 74.00</a:t>
                      </a:r>
                      <a:endParaRPr lang="en-CH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00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 err="1"/>
                        <a:t>ToT</a:t>
                      </a:r>
                      <a:r>
                        <a:rPr lang="en-GB" b="1" dirty="0"/>
                        <a:t>  (DeepSeek, b=5)</a:t>
                      </a:r>
                      <a:endParaRPr lang="en-GB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b="1" dirty="0"/>
                        <a:t>72 %</a:t>
                      </a:r>
                      <a:endParaRPr lang="en-CH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b="1" dirty="0"/>
                        <a:t>$ 1.07</a:t>
                      </a:r>
                      <a:endParaRPr lang="en-CH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375788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5AC96-74AE-B89E-1BC9-573E5A75C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9583B7-C3A8-DFBA-7F1E-99513DCB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17</a:t>
            </a:fld>
            <a:endParaRPr lang="en-C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E9BAE7-481D-FFAD-18C7-7636E1DF4380}"/>
              </a:ext>
            </a:extLst>
          </p:cNvPr>
          <p:cNvSpPr txBox="1"/>
          <p:nvPr/>
        </p:nvSpPr>
        <p:spPr>
          <a:xfrm>
            <a:off x="1839686" y="4204527"/>
            <a:ext cx="89371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 err="1">
                <a:latin typeface="Segoe UI" panose="020B0502040204020203" pitchFamily="34" charset="0"/>
                <a:cs typeface="Segoe UI" panose="020B0502040204020203" pitchFamily="34" charset="0"/>
              </a:rPr>
              <a:t>Austausch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 Model GPT-4 → DeepSeek v3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≈ 99 % </a:t>
            </a:r>
            <a:r>
              <a:rPr lang="en-GB" b="1" dirty="0" err="1">
                <a:latin typeface="Segoe UI" panose="020B0502040204020203" pitchFamily="34" charset="0"/>
                <a:cs typeface="Segoe UI" panose="020B0502040204020203" pitchFamily="34" charset="0"/>
              </a:rPr>
              <a:t>Kostensenkung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dirty="0" err="1">
                <a:latin typeface="Segoe UI" panose="020B0502040204020203" pitchFamily="34" charset="0"/>
                <a:cs typeface="Segoe UI" panose="020B0502040204020203" pitchFamily="34" charset="0"/>
              </a:rPr>
              <a:t>durch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dirty="0" err="1">
                <a:latin typeface="Segoe UI" panose="020B0502040204020203" pitchFamily="34" charset="0"/>
                <a:cs typeface="Segoe UI" panose="020B0502040204020203" pitchFamily="34" charset="0"/>
              </a:rPr>
              <a:t>Modelltausch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GPT-4 → DeepSeek (74 $ → 1.07 $).</a:t>
            </a:r>
          </a:p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 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Accuracy </a:t>
            </a:r>
            <a:r>
              <a:rPr lang="en-GB" b="1" dirty="0" err="1">
                <a:latin typeface="Segoe UI" panose="020B0502040204020203" pitchFamily="34" charset="0"/>
                <a:cs typeface="Segoe UI" panose="020B0502040204020203" pitchFamily="34" charset="0"/>
              </a:rPr>
              <a:t>bleibt</a:t>
            </a:r>
            <a:r>
              <a:rPr lang="en-GB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b="1" dirty="0" err="1">
                <a:latin typeface="Segoe UI" panose="020B0502040204020203" pitchFamily="34" charset="0"/>
                <a:cs typeface="Segoe UI" panose="020B0502040204020203" pitchFamily="34" charset="0"/>
              </a:rPr>
              <a:t>gleich</a:t>
            </a:r>
            <a:endParaRPr lang="en-CH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16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E2424-0B7E-14B0-DF48-5466277B1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 </a:t>
            </a:r>
            <a:br>
              <a:rPr lang="en-GB" dirty="0"/>
            </a:br>
            <a:r>
              <a:rPr lang="en-GB" dirty="0"/>
              <a:t>DeepSeek: </a:t>
            </a:r>
            <a:r>
              <a:rPr lang="en-GB" dirty="0" err="1"/>
              <a:t>Ursprüngliche</a:t>
            </a:r>
            <a:r>
              <a:rPr lang="en-GB" dirty="0"/>
              <a:t>- vs. Neue Knoten-</a:t>
            </a:r>
            <a:r>
              <a:rPr lang="en-GB" dirty="0" err="1"/>
              <a:t>Evaluierung</a:t>
            </a:r>
            <a:br>
              <a:rPr lang="en-GB" dirty="0"/>
            </a:br>
            <a:endParaRPr lang="en-CH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EA88089-AA08-A5B1-B5FA-272D7E4ED9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4109531"/>
              </p:ext>
            </p:extLst>
          </p:nvPr>
        </p:nvGraphicFramePr>
        <p:xfrm>
          <a:off x="838200" y="1825625"/>
          <a:ext cx="10515600" cy="2323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63261727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690208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3912011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57588303"/>
                    </a:ext>
                  </a:extLst>
                </a:gridCol>
              </a:tblGrid>
              <a:tr h="3195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 err="1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Variante</a:t>
                      </a:r>
                      <a:r>
                        <a:rPr lang="en-GB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(DeepSeek, b=5)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Temp.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Accuracy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b="1" dirty="0">
                          <a:solidFill>
                            <a:schemeClr val="tx1"/>
                          </a:solidFill>
                        </a:rPr>
                        <a:t>Kosten/Run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662404"/>
                  </a:ext>
                </a:extLst>
              </a:tr>
              <a:tr h="521573">
                <a:tc>
                  <a:txBody>
                    <a:bodyPr/>
                    <a:lstStyle/>
                    <a:p>
                      <a:r>
                        <a:rPr lang="en-CH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Ursprüngliche Evaluierung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72 %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b="1" dirty="0">
                          <a:solidFill>
                            <a:schemeClr val="tx1"/>
                          </a:solidFill>
                        </a:rPr>
                        <a:t>$ 1.07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335786"/>
                  </a:ext>
                </a:extLst>
              </a:tr>
              <a:tr h="521573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 Single-Solution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1.8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24 %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b="1" dirty="0">
                          <a:solidFill>
                            <a:schemeClr val="tx1"/>
                          </a:solidFill>
                        </a:rPr>
                        <a:t>$ 0.33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871472"/>
                  </a:ext>
                </a:extLst>
              </a:tr>
              <a:tr h="521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Multiple-Solution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0.7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b="1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3 %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b="1" dirty="0">
                          <a:solidFill>
                            <a:schemeClr val="tx1"/>
                          </a:solidFill>
                        </a:rPr>
                        <a:t>$ 0.20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8623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57F21-DB71-D5A4-CFDC-2E4CD903C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71635-443F-DFF5-1CD2-C333C7666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18</a:t>
            </a:fld>
            <a:endParaRPr lang="en-C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A4BF91-CB5F-3D35-07A6-8BD80641863D}"/>
              </a:ext>
            </a:extLst>
          </p:cNvPr>
          <p:cNvSpPr txBox="1"/>
          <p:nvPr/>
        </p:nvSpPr>
        <p:spPr>
          <a:xfrm>
            <a:off x="4548052" y="4148931"/>
            <a:ext cx="5993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i="1" dirty="0"/>
              <a:t>Lost Brains, Saved Money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739528-E9B4-DEC2-4D3C-CE6E29A481B3}"/>
              </a:ext>
            </a:extLst>
          </p:cNvPr>
          <p:cNvSpPr txBox="1"/>
          <p:nvPr/>
        </p:nvSpPr>
        <p:spPr>
          <a:xfrm>
            <a:off x="1463040" y="4676503"/>
            <a:ext cx="96403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3–5× </a:t>
            </a:r>
            <a:r>
              <a:rPr lang="en-GB" b="1" dirty="0" err="1"/>
              <a:t>günstiger</a:t>
            </a:r>
            <a:r>
              <a:rPr lang="en-GB" dirty="0"/>
              <a:t> </a:t>
            </a:r>
            <a:r>
              <a:rPr lang="en-GB" dirty="0" err="1"/>
              <a:t>als</a:t>
            </a:r>
            <a:r>
              <a:rPr lang="en-GB" dirty="0"/>
              <a:t> </a:t>
            </a:r>
            <a:r>
              <a:rPr lang="en-GB" dirty="0" err="1"/>
              <a:t>ursprüngliche</a:t>
            </a:r>
            <a:r>
              <a:rPr lang="en-GB" dirty="0"/>
              <a:t> </a:t>
            </a:r>
            <a:r>
              <a:rPr lang="en-GB" dirty="0" err="1"/>
              <a:t>Evaluierung</a:t>
            </a:r>
            <a:r>
              <a:rPr lang="en-GB" dirty="0"/>
              <a:t>, </a:t>
            </a:r>
            <a:r>
              <a:rPr lang="en-GB" dirty="0" err="1"/>
              <a:t>aber</a:t>
            </a:r>
            <a:r>
              <a:rPr lang="en-GB" dirty="0"/>
              <a:t> </a:t>
            </a:r>
            <a:r>
              <a:rPr lang="en-GB" b="1" dirty="0"/>
              <a:t>starker Accuracy-Drop</a:t>
            </a:r>
            <a:r>
              <a:rPr lang="en-GB" dirty="0"/>
              <a:t> (max </a:t>
            </a:r>
            <a:r>
              <a:rPr lang="en-GB" b="1" dirty="0"/>
              <a:t>24 %</a:t>
            </a:r>
            <a:r>
              <a:rPr lang="en-GB" dirty="0"/>
              <a:t> vs </a:t>
            </a:r>
            <a:r>
              <a:rPr lang="en-GB" b="1" dirty="0"/>
              <a:t>72 %</a:t>
            </a:r>
            <a:r>
              <a:rPr lang="en-GB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Single-Solution ≫ Multiple-Solution</a:t>
            </a:r>
            <a:r>
              <a:rPr lang="en-GB" dirty="0"/>
              <a:t> (24 % vs 3 %). 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Listen-</a:t>
            </a:r>
            <a:r>
              <a:rPr lang="en-GB" b="1" dirty="0" err="1"/>
              <a:t>Interferenz</a:t>
            </a:r>
            <a:r>
              <a:rPr lang="en-GB" dirty="0"/>
              <a:t> </a:t>
            </a:r>
            <a:r>
              <a:rPr lang="en-GB" dirty="0" err="1"/>
              <a:t>schwächen</a:t>
            </a:r>
            <a:r>
              <a:rPr lang="en-GB" dirty="0"/>
              <a:t> </a:t>
            </a:r>
            <a:r>
              <a:rPr lang="en-GB" dirty="0" err="1"/>
              <a:t>Wahrscheinlichkeits-basierte</a:t>
            </a:r>
            <a:r>
              <a:rPr lang="en-GB" dirty="0"/>
              <a:t> Scores</a:t>
            </a:r>
          </a:p>
        </p:txBody>
      </p:sp>
    </p:spTree>
    <p:extLst>
      <p:ext uri="{BB962C8B-B14F-4D97-AF65-F5344CB8AC3E}">
        <p14:creationId xmlns:p14="http://schemas.microsoft.com/office/powerpoint/2010/main" val="1000871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B6F9B-0267-618E-2992-66C5CFE36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Fazit</a:t>
            </a:r>
            <a:r>
              <a:rPr lang="en-GB" dirty="0"/>
              <a:t> (Key Takeaways)</a:t>
            </a: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884A5-F3AD-8ADD-033A-8E4695800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DFC14-7A3F-C3FA-C240-50C04D14D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19</a:t>
            </a:fld>
            <a:endParaRPr lang="en-C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C3451C-7AE5-3274-A71D-1FD6BAEC3F89}"/>
              </a:ext>
            </a:extLst>
          </p:cNvPr>
          <p:cNvSpPr txBox="1"/>
          <p:nvPr/>
        </p:nvSpPr>
        <p:spPr>
          <a:xfrm>
            <a:off x="838200" y="2089761"/>
            <a:ext cx="939219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F1: </a:t>
            </a: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Keyword-</a:t>
            </a:r>
            <a:r>
              <a:rPr lang="en-GB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gewichtete</a:t>
            </a: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 Aggregation ↑ AUROC ↓ ECE</a:t>
            </a:r>
          </a:p>
          <a:p>
            <a:endParaRPr lang="en-GB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F2: </a:t>
            </a: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Self-Eval </a:t>
            </a:r>
            <a:r>
              <a:rPr lang="en-GB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bringt</a:t>
            </a: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nur</a:t>
            </a: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begrenzt</a:t>
            </a: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Mehrwert</a:t>
            </a:r>
            <a:endParaRPr lang="en-GB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GB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F3: </a:t>
            </a:r>
            <a:r>
              <a:rPr lang="en-GB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CoD</a:t>
            </a: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 ~ UQ-</a:t>
            </a:r>
            <a:r>
              <a:rPr lang="en-GB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Qualität</a:t>
            </a: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 von </a:t>
            </a:r>
            <a:r>
              <a:rPr lang="en-GB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CoT</a:t>
            </a: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; Accuracy −2.84 pp</a:t>
            </a:r>
          </a:p>
          <a:p>
            <a:endParaRPr lang="en-GB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F4: </a:t>
            </a:r>
            <a:r>
              <a:rPr lang="en-GB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ToT</a:t>
            </a: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-Evaluator-Ersatz: Kosten </a:t>
            </a:r>
            <a:r>
              <a:rPr lang="en-GB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massiv</a:t>
            </a: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↓</a:t>
            </a: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, Accuracy </a:t>
            </a:r>
            <a:r>
              <a:rPr lang="en-GB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deutlich</a:t>
            </a:r>
            <a:r>
              <a:rPr lang="en-GB" sz="2400" dirty="0">
                <a:latin typeface="Segoe UI" panose="020B0502040204020203" pitchFamily="34" charset="0"/>
                <a:cs typeface="Segoe UI" panose="020B0502040204020203" pitchFamily="34" charset="0"/>
              </a:rPr>
              <a:t> ↓; Single-Solution &gt; Multiple</a:t>
            </a:r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710201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50CC88A9-A661-4C48-866E-8734E511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275DD2-D83B-5BFE-30E5-C87E45D93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73" y="393380"/>
            <a:ext cx="7655427" cy="739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latin typeface="+mj-lt"/>
                <a:cs typeface="+mj-cs"/>
              </a:rPr>
              <a:t>Q&amp;A</a:t>
            </a:r>
          </a:p>
        </p:txBody>
      </p:sp>
      <p:pic>
        <p:nvPicPr>
          <p:cNvPr id="1026" name="Picture 2" descr="Campus FHNW Brugg-Windisch">
            <a:extLst>
              <a:ext uri="{FF2B5EF4-FFF2-40B4-BE49-F238E27FC236}">
                <a16:creationId xmlns:a16="http://schemas.microsoft.com/office/drawing/2014/main" id="{CECD040C-7AA3-102D-8214-7E404D36D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000" y="2523744"/>
            <a:ext cx="4483510" cy="2992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8572BB5B-A5C2-7C0E-2BA9-ED834F70AB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4156" y="3503582"/>
            <a:ext cx="4483510" cy="103306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E38AEF-CCF3-96FB-AAB2-0224C2FF5E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000">
                <a:solidFill>
                  <a:schemeClr val="tx1">
                    <a:tint val="75000"/>
                  </a:schemeClr>
                </a:solidFill>
              </a:rPr>
              <a:t>11.09.2025</a:t>
            </a:r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CFDF195F-784B-4D00-8C92-6FC1B0499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3EF9D-BD81-E77C-618D-F9E71E611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4B7C9C9-20FE-CD4B-BCC8-97294F33EE2E}" type="slidenum">
              <a:rPr lang="en-US" sz="100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20</a:t>
            </a:fld>
            <a:endParaRPr lang="en-US" sz="10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1061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76F52-0ACD-51D0-4DA4-9B6067932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Quellen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289DE-E7B6-0E6D-82AA-F294E0E8B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21528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sz="1900" dirty="0"/>
              <a:t>1. A-sample-sketch-of-the-reliability-diagram-showing-perfectly-calibrated-overconfident.png [Online]. Available:</a:t>
            </a:r>
          </a:p>
          <a:p>
            <a:pPr marL="0" indent="0">
              <a:buNone/>
            </a:pPr>
            <a:r>
              <a:rPr lang="en-GB" sz="1900" dirty="0"/>
              <a:t>	https://</a:t>
            </a:r>
            <a:r>
              <a:rPr lang="en-GB" sz="1900" dirty="0" err="1"/>
              <a:t>www.researchgate.net</a:t>
            </a:r>
            <a:r>
              <a:rPr lang="en-GB" sz="1900" dirty="0"/>
              <a:t>/publication/355060397/figure/fig2/AS:1076315306373127@1633624974709/</a:t>
            </a:r>
            <a:endParaRPr lang="en-CH" sz="1900" dirty="0"/>
          </a:p>
          <a:p>
            <a:pPr marL="0" indent="0">
              <a:buNone/>
            </a:pPr>
            <a:r>
              <a:rPr lang="en-CH" sz="1900" dirty="0"/>
              <a:t>2. </a:t>
            </a:r>
            <a:r>
              <a:rPr lang="en-GB" sz="1900" dirty="0"/>
              <a:t>S. Xu, W. Xie, L. Zhao, and P. He, “Chain of draft: Thinking faster by writing less,”</a:t>
            </a:r>
          </a:p>
          <a:p>
            <a:pPr marL="0" indent="0">
              <a:buNone/>
            </a:pPr>
            <a:r>
              <a:rPr lang="en-GB" sz="1900" dirty="0"/>
              <a:t>	2025. [Online]. Available: https://</a:t>
            </a:r>
            <a:r>
              <a:rPr lang="en-GB" sz="1900" dirty="0" err="1"/>
              <a:t>arxiv.org</a:t>
            </a:r>
            <a:r>
              <a:rPr lang="en-GB" sz="1900" dirty="0"/>
              <a:t>/abs/2502.18600</a:t>
            </a:r>
          </a:p>
          <a:p>
            <a:pPr marL="0" indent="0">
              <a:buNone/>
            </a:pPr>
            <a:r>
              <a:rPr lang="en-CH" sz="1900" dirty="0"/>
              <a:t>3. </a:t>
            </a:r>
            <a:r>
              <a:rPr lang="en-GB" sz="1900" dirty="0"/>
              <a:t>S. Yao, Y. Liu, and Y. Bisk. (2023) Tree-of-Thought: Official </a:t>
            </a:r>
            <a:r>
              <a:rPr lang="en-GB" sz="1900" dirty="0" err="1"/>
              <a:t>github</a:t>
            </a:r>
            <a:endParaRPr lang="en-GB" sz="1900" dirty="0"/>
          </a:p>
          <a:p>
            <a:pPr marL="0" indent="0">
              <a:buNone/>
            </a:pPr>
            <a:r>
              <a:rPr lang="en-GB" sz="1900" dirty="0"/>
              <a:t>	repository. GitHub repository – includes Game-of-24 subset. [Online]. Available:</a:t>
            </a:r>
          </a:p>
          <a:p>
            <a:pPr marL="0" indent="0">
              <a:buNone/>
            </a:pPr>
            <a:r>
              <a:rPr lang="en-GB" sz="1900" dirty="0"/>
              <a:t>	https://</a:t>
            </a:r>
            <a:r>
              <a:rPr lang="en-GB" sz="1900" dirty="0" err="1"/>
              <a:t>github.com</a:t>
            </a:r>
            <a:r>
              <a:rPr lang="en-GB" sz="1900" dirty="0"/>
              <a:t>/</a:t>
            </a:r>
            <a:r>
              <a:rPr lang="en-GB" sz="1900" dirty="0" err="1"/>
              <a:t>princeton-nlp</a:t>
            </a:r>
            <a:r>
              <a:rPr lang="en-GB" sz="1900" dirty="0"/>
              <a:t>/tree-of-thought-</a:t>
            </a:r>
            <a:r>
              <a:rPr lang="en-GB" sz="1900" dirty="0" err="1"/>
              <a:t>llm</a:t>
            </a:r>
            <a:endParaRPr lang="en-CH" sz="1900" dirty="0"/>
          </a:p>
          <a:p>
            <a:pPr marL="0" indent="0">
              <a:buNone/>
            </a:pPr>
            <a:r>
              <a:rPr lang="en-CH" sz="1900" dirty="0"/>
              <a:t>4. </a:t>
            </a:r>
            <a:r>
              <a:rPr lang="en-GB" sz="1900" dirty="0"/>
              <a:t>B. Zhang and R. Zhang, “Cot-</a:t>
            </a:r>
            <a:r>
              <a:rPr lang="en-GB" sz="1900" dirty="0" err="1"/>
              <a:t>uq</a:t>
            </a:r>
            <a:r>
              <a:rPr lang="en-GB" sz="1900" dirty="0"/>
              <a:t>: Improving response-wise uncertainty quantification in </a:t>
            </a:r>
            <a:r>
              <a:rPr lang="en-GB" sz="1900" dirty="0" err="1"/>
              <a:t>llms</a:t>
            </a:r>
            <a:r>
              <a:rPr lang="en-GB" sz="1900" dirty="0"/>
              <a:t> with chain-of-thought,”</a:t>
            </a:r>
          </a:p>
          <a:p>
            <a:pPr marL="0" indent="0">
              <a:buNone/>
            </a:pPr>
            <a:r>
              <a:rPr lang="en-GB" sz="1900" dirty="0"/>
              <a:t> 	2025. [Online]. Available: https://</a:t>
            </a:r>
            <a:r>
              <a:rPr lang="en-GB" sz="1900" dirty="0" err="1"/>
              <a:t>arxiv.org</a:t>
            </a:r>
            <a:r>
              <a:rPr lang="en-GB" sz="1900" dirty="0"/>
              <a:t>/abs/2502.17214</a:t>
            </a:r>
          </a:p>
          <a:p>
            <a:pPr marL="0" indent="0">
              <a:buNone/>
            </a:pPr>
            <a:r>
              <a:rPr lang="en-GB" sz="1900" dirty="0"/>
              <a:t>5. J. Wei, X. Wang, D. Schuurmans, M. Bosma, B. </a:t>
            </a:r>
            <a:r>
              <a:rPr lang="en-GB" sz="1900" dirty="0" err="1"/>
              <a:t>Ichter</a:t>
            </a:r>
            <a:r>
              <a:rPr lang="en-GB" sz="1900" dirty="0"/>
              <a:t>, F. Xia, E. Chi, Q. Le, and</a:t>
            </a:r>
          </a:p>
          <a:p>
            <a:pPr marL="0" indent="0">
              <a:buNone/>
            </a:pPr>
            <a:r>
              <a:rPr lang="en-GB" sz="1900" dirty="0"/>
              <a:t>	D. Zhou, “Chain-of-thought prompting elicits reasoning in large language models,”</a:t>
            </a:r>
          </a:p>
          <a:p>
            <a:pPr marL="0" indent="0">
              <a:buNone/>
            </a:pPr>
            <a:r>
              <a:rPr lang="en-GB" sz="1900" dirty="0"/>
              <a:t>	2023. [Online]. Available: </a:t>
            </a:r>
            <a:r>
              <a:rPr lang="en-GB" sz="1900" dirty="0">
                <a:hlinkClick r:id="rId2"/>
              </a:rPr>
              <a:t>https://arxiv.org/abs/2201.11903</a:t>
            </a:r>
            <a:endParaRPr lang="en-GB" sz="1900" dirty="0"/>
          </a:p>
          <a:p>
            <a:pPr marL="0" indent="0">
              <a:buNone/>
            </a:pPr>
            <a:r>
              <a:rPr lang="en-GB" sz="1900" dirty="0"/>
              <a:t>6. FHNW Image: [Online]. Available: https://</a:t>
            </a:r>
            <a:r>
              <a:rPr lang="en-GB" sz="1900" dirty="0" err="1"/>
              <a:t>www.berufsberatung.ch</a:t>
            </a:r>
            <a:r>
              <a:rPr lang="en-GB" sz="1900" dirty="0"/>
              <a:t>/</a:t>
            </a:r>
            <a:r>
              <a:rPr lang="en-GB" sz="1900" dirty="0" err="1"/>
              <a:t>dyn</a:t>
            </a:r>
            <a:r>
              <a:rPr lang="en-GB" sz="1900" dirty="0"/>
              <a:t>/show/4732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F7F6F-6D40-9E17-62CA-E197977E5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D079F-F2D0-AF96-87EE-922E2BAB0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21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52517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C9ABC-E1B1-2311-38C7-1AB3BDB78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19F2F9-1C1B-0624-334E-C6C57756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22</a:t>
            </a:fld>
            <a:endParaRPr lang="en-CH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8A6188-FF74-3EF7-72C8-E25FFF4FE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678" y="549275"/>
            <a:ext cx="4020194" cy="28715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CDE837-30CF-B12D-7E9D-A2B551E917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1712" y="557433"/>
            <a:ext cx="4042342" cy="28873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2BE8E8-7EED-F5A0-DA6F-7FD1DF9B14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1907" y="3492703"/>
            <a:ext cx="3908500" cy="27917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F09E88-4253-767A-4123-F1E0CF9EB0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0820" y="3420583"/>
            <a:ext cx="4009469" cy="286390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C9DF7F1-4724-2DCB-35C8-EE0B29AE6AEE}"/>
              </a:ext>
            </a:extLst>
          </p:cNvPr>
          <p:cNvSpPr txBox="1"/>
          <p:nvPr/>
        </p:nvSpPr>
        <p:spPr>
          <a:xfrm>
            <a:off x="2843211" y="188101"/>
            <a:ext cx="6943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/>
              <a:t>AUROC Aggregationsmetriken MATH VS LOGICAL Vergleich CoD CoT</a:t>
            </a:r>
          </a:p>
        </p:txBody>
      </p:sp>
    </p:spTree>
    <p:extLst>
      <p:ext uri="{BB962C8B-B14F-4D97-AF65-F5344CB8AC3E}">
        <p14:creationId xmlns:p14="http://schemas.microsoft.com/office/powerpoint/2010/main" val="11997280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0B426-1B49-07CD-8B8A-DE2041383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45813" cy="1325563"/>
          </a:xfrm>
        </p:spPr>
        <p:txBody>
          <a:bodyPr>
            <a:normAutofit/>
          </a:bodyPr>
          <a:lstStyle/>
          <a:p>
            <a:r>
              <a:rPr lang="en-CH" sz="2700" dirty="0"/>
              <a:t>ECE Aggregationsmetriken MATH VS LOGICAL Vergleich CoD CoT</a:t>
            </a:r>
            <a:br>
              <a:rPr lang="en-CH" dirty="0"/>
            </a:br>
            <a:endParaRPr lang="en-CH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19443B-C125-0715-DB79-B84804E85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8DBB5-4380-7C92-4C1A-1A03F9365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23</a:t>
            </a:fld>
            <a:endParaRPr lang="en-C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F1FF80-F75C-2D86-F386-BC68E4C2E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062" y="3428998"/>
            <a:ext cx="3299615" cy="23568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222795-99B6-147C-9D49-254691C2D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063" y="1072130"/>
            <a:ext cx="3299616" cy="23568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7A24BC-83E2-3D9B-B0D0-E1D7B707BB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6726" y="3428998"/>
            <a:ext cx="3299615" cy="23568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E483EE-B043-16C2-502D-38F703DE83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6729" y="1072130"/>
            <a:ext cx="3299615" cy="2356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9727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3D998-0154-1E27-78E1-4353EC37C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CH" dirty="0"/>
              <a:t>Kalibrationskurven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2D807E-45A7-FA67-C76A-CF1A28623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11.09.2025</a:t>
            </a:r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980B5-C2D7-AE85-633C-0368A00EC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7C9C9-20FE-CD4B-BCC8-97294F33EE2E}" type="slidenum">
              <a:rPr lang="en-CH" smtClean="0"/>
              <a:t>24</a:t>
            </a:fld>
            <a:endParaRPr lang="en-C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463A52-F026-8241-3563-9813C19A0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489" y="1275359"/>
            <a:ext cx="2153641" cy="21536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B64D81-2830-6EB9-C929-2D880818E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489" y="3566914"/>
            <a:ext cx="2153641" cy="21536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90B269-EEF0-8CD3-D9ED-D65E4D3168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625" y="3481462"/>
            <a:ext cx="2085753" cy="20857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D20803-58A0-6721-7E43-78D3852A64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6625" y="1343246"/>
            <a:ext cx="2085753" cy="20857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B5AD8F-6782-6899-0CEA-092D1CAFE7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1672" y="3413574"/>
            <a:ext cx="2153641" cy="2153641"/>
          </a:xfrm>
          <a:prstGeom prst="rect">
            <a:avLst/>
          </a:prstGeom>
        </p:spPr>
      </p:pic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0411C2CD-B4C6-FD30-99C9-7EF0982400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1672" y="1275359"/>
            <a:ext cx="2153640" cy="215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232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ccent 3">
      <a:dk1>
        <a:srgbClr val="1A1A1A"/>
      </a:dk1>
      <a:lt1>
        <a:srgbClr val="FFFFFF"/>
      </a:lt1>
      <a:dk2>
        <a:srgbClr val="333843"/>
      </a:dk2>
      <a:lt2>
        <a:srgbClr val="E9EDF1"/>
      </a:lt2>
      <a:accent1>
        <a:srgbClr val="1E4D8F"/>
      </a:accent1>
      <a:accent2>
        <a:srgbClr val="118A8A"/>
      </a:accent2>
      <a:accent3>
        <a:srgbClr val="F0A202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14166</TotalTime>
  <Words>2050</Words>
  <Application>Microsoft Macintosh PowerPoint</Application>
  <PresentationFormat>Widescreen</PresentationFormat>
  <Paragraphs>358</Paragraphs>
  <Slides>24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Arial</vt:lpstr>
      <vt:lpstr>Calibri</vt:lpstr>
      <vt:lpstr>Consolas</vt:lpstr>
      <vt:lpstr>Segoe UI</vt:lpstr>
      <vt:lpstr>Segoe UI Semibold</vt:lpstr>
      <vt:lpstr>Office Theme</vt:lpstr>
      <vt:lpstr>Unsicherheitsabschätzung in Large Language Models mittels Reasoning-Strategien</vt:lpstr>
      <vt:lpstr>Agenda</vt:lpstr>
      <vt:lpstr>Motivation</vt:lpstr>
      <vt:lpstr>Problemstellung</vt:lpstr>
      <vt:lpstr>Reasoning-Strategien</vt:lpstr>
      <vt:lpstr>Unsicherheitsmetriken: Zwei Klassen</vt:lpstr>
      <vt:lpstr> Varianten: Keywords &amp; Gewichte</vt:lpstr>
      <vt:lpstr>Qualitätsmasse zur Evaluation</vt:lpstr>
      <vt:lpstr>Forschungsfragen F1–F4</vt:lpstr>
      <vt:lpstr>CoT &amp; CoD Experiment</vt:lpstr>
      <vt:lpstr>Resultate – Accuracy CoD, CoT</vt:lpstr>
      <vt:lpstr>Resultate Aggregations-Metriken</vt:lpstr>
      <vt:lpstr>Self-Probing</vt:lpstr>
      <vt:lpstr>P-True</vt:lpstr>
      <vt:lpstr>Tree-of-Thought: Ablauf am Beispiel „Game of 24“</vt:lpstr>
      <vt:lpstr>Knoten-Evaluierung im ToT: Alt vs. Neu</vt:lpstr>
      <vt:lpstr>Modelltausch &amp; Kosten/Genauigkeit</vt:lpstr>
      <vt:lpstr>  DeepSeek: Ursprüngliche- vs. Neue Knoten-Evaluierung </vt:lpstr>
      <vt:lpstr>Fazit (Key Takeaways)</vt:lpstr>
      <vt:lpstr>Q&amp;A</vt:lpstr>
      <vt:lpstr>Quellen</vt:lpstr>
      <vt:lpstr>PowerPoint Presentation</vt:lpstr>
      <vt:lpstr>ECE Aggregationsmetriken MATH VS LOGICAL Vergleich CoD CoT </vt:lpstr>
      <vt:lpstr>Kalibrationskurven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Mauro Hirt (s)</dc:creator>
  <cp:lastModifiedBy>Mmauro Hirt</cp:lastModifiedBy>
  <cp:revision>16</cp:revision>
  <dcterms:created xsi:type="dcterms:W3CDTF">2025-08-27T10:00:04Z</dcterms:created>
  <dcterms:modified xsi:type="dcterms:W3CDTF">2025-09-11T16:54:23Z</dcterms:modified>
</cp:coreProperties>
</file>